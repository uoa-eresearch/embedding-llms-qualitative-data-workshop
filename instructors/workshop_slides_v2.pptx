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679" r:id="rId5"/>
    <p:sldId id="691" r:id="rId6"/>
    <p:sldId id="799" r:id="rId7"/>
    <p:sldId id="801" r:id="rId8"/>
    <p:sldId id="800" r:id="rId9"/>
    <p:sldId id="789" r:id="rId10"/>
    <p:sldId id="790" r:id="rId11"/>
    <p:sldId id="791" r:id="rId12"/>
    <p:sldId id="792" r:id="rId13"/>
    <p:sldId id="793" r:id="rId14"/>
    <p:sldId id="794" r:id="rId15"/>
    <p:sldId id="795" r:id="rId16"/>
    <p:sldId id="796" r:id="rId17"/>
    <p:sldId id="797" r:id="rId18"/>
    <p:sldId id="788" r:id="rId19"/>
  </p:sldIdLst>
  <p:sldSz cx="12192000" cy="6858000"/>
  <p:notesSz cx="7315200" cy="9601200"/>
  <p:embeddedFontLst>
    <p:embeddedFont>
      <p:font typeface="Segoe UI" panose="020B0502040204020203" pitchFamily="34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  <p:embeddedFont>
      <p:font typeface="Verdana Pro" panose="020B0604030504040204" pitchFamily="34" charset="0"/>
      <p:regular r:id="rId30"/>
      <p:bold r:id="rId31"/>
      <p:italic r:id="rId32"/>
      <p:boldItalic r:id="rId33"/>
    </p:embeddedFont>
    <p:embeddedFont>
      <p:font typeface="Verdana Pro Bold" panose="020B0804030504040204" pitchFamily="34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9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9ABF27-CBE5-5FDB-FFA5-5FCDDD94F0D8}" name="Sarah Hopkins" initials="SH" userId="S::shop013@UoA.auckland.ac.nz::20769d50-1fd7-43b8-9519-dac11ffb2937" providerId="AD"/>
  <p188:author id="{EB519149-4178-CF6F-0981-2C748AD7F441}" name="Laura Armstrong" initials="LA" userId="S::ltuc007@uoa.auckland.ac.nz::0571ad82-98ab-4e3a-8d7f-7d5e410bddc2" providerId="AD"/>
  <p188:author id="{BCADD381-473B-0730-B891-CF5BB0B5D5D3}" name="Kyle Hemming" initials="KH" userId="S::khem480@uoa.auckland.ac.nz::ffc98c0f-473e-4029-8649-7c95a6ad2c04" providerId="AD"/>
  <p188:author id="{DB09F3B5-2417-3DB8-39C2-2889DAF7FDB4}" name="Jens Brinkmann" initials="JB" userId="S::jbri364@uoa.auckland.ac.nz::cb3db833-eb1f-40f8-b076-66b40f9e8ef3" providerId="AD"/>
  <p188:author id="{1F0480D8-B2D5-9AA0-04A0-35D26B8CD46F}" name="Tom Saunders" initials="TS" userId="S::tsau017@uoa.auckland.ac.nz::46330dfc-5598-4ed0-a335-176683ba86a1" providerId="AD"/>
  <p188:author id="{9CA431E3-B9E3-314D-FB6A-5F98DA43E9C8}" name="James Love" initials="JL" userId="S::jlov034@uoa.auckland.ac.nz::d11bae58-1ba3-45fb-8fd2-68a06a580469" providerId="AD"/>
  <p188:author id="{0FD14AE3-9B39-A9D4-5040-F7252ED42CD9}" name="Ben Collings" initials="BC" userId="S::bcol845@uoa.auckland.ac.nz::0bdfec53-bd97-4166-9ebe-adbfbd574b4e" providerId="AD"/>
  <p188:author id="{D6BF7DF1-CC93-B6CB-74B7-62306F575767}" name="Kyle Hemming" initials="KH" userId="S::khem480@UoA.auckland.ac.nz::ffc98c0f-473e-4029-8649-7c95a6ad2c0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D803"/>
    <a:srgbClr val="0059A6"/>
    <a:srgbClr val="006BCF"/>
    <a:srgbClr val="0060B4"/>
    <a:srgbClr val="00467F"/>
    <a:srgbClr val="E4680B"/>
    <a:srgbClr val="63B809"/>
    <a:srgbClr val="ABF75E"/>
    <a:srgbClr val="A10505"/>
    <a:srgbClr val="B1F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09" d="100"/>
          <a:sy n="109" d="100"/>
        </p:scale>
        <p:origin x="216" y="432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162ED9-B33C-4B39-4FC8-537AD0FF30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22B68-54E2-2017-5862-E83935A5A0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A685C-3BCA-4247-98ED-B036063888BA}" type="datetimeFigureOut">
              <a:rPr lang="en-NZ" smtClean="0"/>
              <a:t>17/06/2026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B51A9-91C9-5100-67BD-C8E853CB65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BAD42-7BEC-327A-BEF9-AA87A8682A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8" y="9119475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0BA3E-1EC1-4E8E-83B8-BE0285E6701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67113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26560" cy="3600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088640" y="0"/>
            <a:ext cx="4226560" cy="3600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3013" y="538163"/>
            <a:ext cx="4792662" cy="2695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99805" y="3411480"/>
            <a:ext cx="6414041" cy="323540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81146" y="9062799"/>
            <a:ext cx="4226560" cy="3583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07494" y="9062799"/>
            <a:ext cx="4226560" cy="3583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92" algn="l" defTabSz="6095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609585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77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170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962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754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547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339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FF71-474B-9F44-5D23-CBBF85F6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3EEE5-0AAB-EA7F-5F67-3E9CAFED0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3013" y="538163"/>
            <a:ext cx="4792662" cy="2695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0F5E2-5CD5-6913-4269-0BDD85B8D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7DC91-16F5-FCE5-79B9-7D1C8430A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5266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FF71-474B-9F44-5D23-CBBF85F6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3EEE5-0AAB-EA7F-5F67-3E9CAFED0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3013" y="538163"/>
            <a:ext cx="4792662" cy="2695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0F5E2-5CD5-6913-4269-0BDD85B8D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7DC91-16F5-FCE5-79B9-7D1C8430A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5266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FD17-767C-0759-E3A6-23AB4A86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21F31-C6FF-244C-03C4-AD2541A79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3013" y="538163"/>
            <a:ext cx="4792662" cy="2695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6AC52-2669-B25A-FBAF-B813AF4A5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B3D62-FA7F-0B7E-554D-8B17AE4C1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3854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CD27B-5B27-2482-7BBC-92D260BF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C4F10-9856-3F01-45EA-C1A36FDB1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3013" y="538163"/>
            <a:ext cx="4792662" cy="2695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5010A-8318-CC21-6650-289563B91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DB9EE-6903-7714-B578-D6ED3322A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2416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A8AD-C877-7832-9A99-6F87D110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42335-3046-91F3-4EC8-E1DC0F1EA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40EB3-16E8-D995-9852-30B192708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8657-0ED3-100F-7136-B59ACE786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4390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7753-B3D5-D6CA-8807-048D8009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6BFB4-449D-E82C-E674-B1F914AB9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D2A79-F41C-2959-A1E1-10F2358F2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E14E8-1AB0-244A-00BD-ED14789BF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6741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B547-0943-BE4D-BCE4-932F5BDF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BE0EC-E11F-34B4-9558-5684E96B6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811CB-48FD-D798-9564-2E8BAED5D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6BAD6-2F10-B0DB-A613-F1DBEC154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637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786D-E115-C26B-63A4-A782856A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1D68A-685D-D076-0AA8-AAEE180A9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6B94C-44EC-044E-6D76-B84D1330B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2F277-357D-6381-B295-F08D76B3E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555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60DC-929C-C511-0D97-CFB0E52E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0C0B3-D644-0DB2-1A63-50F78190E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9D51F-EFF5-1679-3CDA-E0A592021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BA046-C357-E32A-9F82-1253C8182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0872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AE7F-40E7-C8AE-1644-A314666E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DC6D5-4657-B3EE-89F5-512DB17B2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CA0AA-783F-19F7-9975-35DB7912E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8BAD4-B135-7866-60F7-3D55B94A8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316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6C40-876B-D835-A3BD-373959A3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057B2-FA48-184B-A134-4AA71FD71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A7303-D1E3-E4C9-C03C-1E8AECB06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9BE97-98FA-C95F-FB25-AF0EFB388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4588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3E31-2595-8970-0B8D-307E0B6D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8B1D8-039D-0563-5D7B-BCBBB39B8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20557-DB42-28AC-AD01-EFFE43E9C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3CBE0-4116-A0D7-3306-9D8D63A36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2454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0EF3-1658-2231-B073-A2499000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97BE2-D2E4-ABA0-0D05-E81CA746F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C4AF6-5DDA-FFA4-9962-9B5745848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D1EEA-19CF-6017-763F-D947B47EC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1353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mailto:researchdata@auckland.ac.nz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research-hub.auckland.ac.nz/" TargetMode="Externa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-hub.auckland.ac.nz/subhub/guide-to-managing-research-data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research-hub.auckland.ac.nz/guide-to-managing-research-data/rd-support-and-training/research-data-management-overview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-hub.auckland.ac.nz/research-software-and-computing/advanced-compute/large-scale-visualisation-facility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research-hub.auckland.ac.nz/research-software-and-computing/advanced-compute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9F7A116A-20B9-FDD3-398A-A33F2A7B2347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NZ" sz="601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62168C9-0403-93CA-E8DA-4339584DF4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91812" y="5568072"/>
            <a:ext cx="2314391" cy="377850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304815" indent="0">
              <a:buNone/>
              <a:defRPr sz="2330">
                <a:latin typeface="+mn-lt"/>
              </a:defRPr>
            </a:lvl2pPr>
            <a:lvl3pPr marL="609630" indent="0">
              <a:buNone/>
              <a:defRPr sz="2330">
                <a:latin typeface="+mn-lt"/>
              </a:defRPr>
            </a:lvl3pPr>
            <a:lvl4pPr marL="914445" indent="0">
              <a:buNone/>
              <a:defRPr sz="2330">
                <a:latin typeface="+mn-lt"/>
              </a:defRPr>
            </a:lvl4pPr>
            <a:lvl5pPr marL="1219261" indent="0">
              <a:buNone/>
              <a:defRPr sz="2330">
                <a:latin typeface="+mn-lt"/>
              </a:defRPr>
            </a:lvl5pPr>
          </a:lstStyle>
          <a:p>
            <a:pPr lvl="0"/>
            <a:r>
              <a:rPr lang="en-US"/>
              <a:t>Month YYYY</a:t>
            </a:r>
            <a:endParaRPr lang="en-N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9514F6-5373-0639-886F-4195CD668F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797" y="5583148"/>
            <a:ext cx="2314391" cy="37785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304815" indent="0">
              <a:buNone/>
              <a:defRPr sz="2330">
                <a:latin typeface="+mn-lt"/>
              </a:defRPr>
            </a:lvl2pPr>
            <a:lvl3pPr marL="609630" indent="0">
              <a:buNone/>
              <a:defRPr sz="2330">
                <a:latin typeface="+mn-lt"/>
              </a:defRPr>
            </a:lvl3pPr>
            <a:lvl4pPr marL="914445" indent="0">
              <a:buNone/>
              <a:defRPr sz="2330">
                <a:latin typeface="+mn-lt"/>
              </a:defRPr>
            </a:lvl4pPr>
            <a:lvl5pPr marL="1219261" indent="0">
              <a:buNone/>
              <a:defRPr sz="2330">
                <a:latin typeface="+mn-lt"/>
              </a:defRPr>
            </a:lvl5pPr>
          </a:lstStyle>
          <a:p>
            <a:pPr lvl="0"/>
            <a:r>
              <a:rPr lang="en-US"/>
              <a:t>Presenter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600" y="3510000"/>
            <a:ext cx="8023860" cy="5105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 b="1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7107A435-00FB-A170-BD79-4E08F2E0C548}"/>
              </a:ext>
            </a:extLst>
          </p:cNvPr>
          <p:cNvSpPr/>
          <p:nvPr userDrawn="1"/>
        </p:nvSpPr>
        <p:spPr>
          <a:xfrm>
            <a:off x="685805" y="685802"/>
            <a:ext cx="2375124" cy="845903"/>
          </a:xfrm>
          <a:custGeom>
            <a:avLst/>
            <a:gdLst/>
            <a:ahLst/>
            <a:cxnLst/>
            <a:rect l="l" t="t" r="r" b="b"/>
            <a:pathLst>
              <a:path w="3562685" h="1268853">
                <a:moveTo>
                  <a:pt x="0" y="0"/>
                </a:moveTo>
                <a:lnTo>
                  <a:pt x="3562685" y="0"/>
                </a:lnTo>
                <a:lnTo>
                  <a:pt x="3562685" y="1268853"/>
                </a:lnTo>
                <a:lnTo>
                  <a:pt x="0" y="1268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Z" sz="6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99713-AFBE-C063-1E32-EB745459F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583672"/>
            <a:ext cx="8023859" cy="914400"/>
          </a:xfrm>
        </p:spPr>
        <p:txBody>
          <a:bodyPr>
            <a:noAutofit/>
          </a:bodyPr>
          <a:lstStyle>
            <a:lvl1pPr marL="0" indent="0">
              <a:buNone/>
              <a:defRPr sz="56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NZ" sz="5600"/>
              <a:t>Presentation Title</a:t>
            </a:r>
            <a:endParaRPr lang="en-NZ"/>
          </a:p>
        </p:txBody>
      </p:sp>
      <p:sp>
        <p:nvSpPr>
          <p:cNvPr id="21" name="SmartArt Placeholder 20">
            <a:extLst>
              <a:ext uri="{FF2B5EF4-FFF2-40B4-BE49-F238E27FC236}">
                <a16:creationId xmlns:a16="http://schemas.microsoft.com/office/drawing/2014/main" id="{D01447FB-BF78-AB97-71CC-8A94083662ED}"/>
              </a:ext>
            </a:extLst>
          </p:cNvPr>
          <p:cNvSpPr>
            <a:spLocks noGrp="1"/>
          </p:cNvSpPr>
          <p:nvPr>
            <p:ph type="dgm" sz="quarter" idx="13" hasCustomPrompt="1"/>
          </p:nvPr>
        </p:nvSpPr>
        <p:spPr>
          <a:xfrm>
            <a:off x="3" y="6408682"/>
            <a:ext cx="12191997" cy="449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/>
            </a:lvl1pPr>
          </a:lstStyle>
          <a:p>
            <a:r>
              <a:rPr lang="en-NZ"/>
              <a:t>Change this colour or delete text</a:t>
            </a:r>
          </a:p>
        </p:txBody>
      </p:sp>
    </p:spTree>
    <p:extLst>
      <p:ext uri="{BB962C8B-B14F-4D97-AF65-F5344CB8AC3E}">
        <p14:creationId xmlns:p14="http://schemas.microsoft.com/office/powerpoint/2010/main" val="287064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X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839BDC-256A-9354-B680-561B17D91D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805" y="2061133"/>
            <a:ext cx="10619508" cy="4318888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B5EB2A-E7DC-2D5E-9ADD-0D4AB792890E}"/>
              </a:ext>
            </a:extLst>
          </p:cNvPr>
          <p:cNvGrpSpPr/>
          <p:nvPr userDrawn="1"/>
        </p:nvGrpSpPr>
        <p:grpSpPr>
          <a:xfrm>
            <a:off x="6814754" y="5823535"/>
            <a:ext cx="5301583" cy="397348"/>
            <a:chOff x="1347493" y="8116526"/>
            <a:chExt cx="7952372" cy="596020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A8EC6F4-ED8E-0A72-A76A-678C531011EB}"/>
                </a:ext>
              </a:extLst>
            </p:cNvPr>
            <p:cNvSpPr/>
            <p:nvPr/>
          </p:nvSpPr>
          <p:spPr>
            <a:xfrm>
              <a:off x="1347493" y="8116526"/>
              <a:ext cx="687743" cy="596020"/>
            </a:xfrm>
            <a:custGeom>
              <a:avLst/>
              <a:gdLst/>
              <a:ahLst/>
              <a:cxnLst/>
              <a:rect l="l" t="t" r="r" b="b"/>
              <a:pathLst>
                <a:path w="687743" h="596020">
                  <a:moveTo>
                    <a:pt x="0" y="0"/>
                  </a:moveTo>
                  <a:lnTo>
                    <a:pt x="687743" y="0"/>
                  </a:lnTo>
                  <a:lnTo>
                    <a:pt x="687743" y="596020"/>
                  </a:lnTo>
                  <a:lnTo>
                    <a:pt x="0" y="596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5389"/>
              </a:stretch>
            </a:blipFill>
            <a:ln>
              <a:noFill/>
            </a:ln>
          </p:spPr>
          <p:txBody>
            <a:bodyPr/>
            <a:lstStyle/>
            <a:p>
              <a:endParaRPr lang="en-NZ" sz="601"/>
            </a:p>
          </p:txBody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A040771C-E4D8-FC11-31CE-5ADA51280979}"/>
                </a:ext>
              </a:extLst>
            </p:cNvPr>
            <p:cNvSpPr txBox="1"/>
            <p:nvPr/>
          </p:nvSpPr>
          <p:spPr>
            <a:xfrm>
              <a:off x="2243059" y="8188094"/>
              <a:ext cx="7056806" cy="402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27"/>
                </a:lnSpc>
              </a:pPr>
              <a:r>
                <a:rPr lang="en-US" sz="1401" u="sng" spc="-37">
                  <a:solidFill>
                    <a:srgbClr val="333333"/>
                  </a:solidFill>
                  <a:latin typeface="Verdana Pro"/>
                  <a:hlinkClick r:id="rId3" tooltip="mailto:researchdata@auckland.ac.nz"/>
                </a:rPr>
                <a:t>researchdata@auckland.ac.nz</a:t>
              </a:r>
            </a:p>
          </p:txBody>
        </p:sp>
      </p:grpSp>
      <p:sp>
        <p:nvSpPr>
          <p:cNvPr id="26" name="Freeform 13">
            <a:extLst>
              <a:ext uri="{FF2B5EF4-FFF2-40B4-BE49-F238E27FC236}">
                <a16:creationId xmlns:a16="http://schemas.microsoft.com/office/drawing/2014/main" id="{705FC4FB-D679-7AAE-91E0-D38192F2D22B}"/>
              </a:ext>
            </a:extLst>
          </p:cNvPr>
          <p:cNvSpPr/>
          <p:nvPr userDrawn="1"/>
        </p:nvSpPr>
        <p:spPr>
          <a:xfrm>
            <a:off x="886159" y="5899648"/>
            <a:ext cx="1431355" cy="258441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NZ" sz="601"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7360D549-91C4-9742-4807-6B38034AA779}"/>
              </a:ext>
            </a:extLst>
          </p:cNvPr>
          <p:cNvSpPr txBox="1"/>
          <p:nvPr userDrawn="1"/>
        </p:nvSpPr>
        <p:spPr>
          <a:xfrm>
            <a:off x="2550729" y="5897419"/>
            <a:ext cx="3893947" cy="22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1"/>
              </a:lnSpc>
            </a:pPr>
            <a:r>
              <a:rPr lang="en-US" sz="1401" u="sng">
                <a:solidFill>
                  <a:srgbClr val="009AC7"/>
                </a:solidFill>
                <a:latin typeface="Verdana Pro"/>
                <a:hlinkClick r:id="rId5" tooltip="https://research-hub.auckland.ac.nz"/>
              </a:rPr>
              <a:t>https://research-hub.auckland.ac.nz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D39530-6353-F214-56F1-D95BA6544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8400" y="532800"/>
            <a:ext cx="6277688" cy="914400"/>
          </a:xfrm>
        </p:spPr>
        <p:txBody>
          <a:bodyPr/>
          <a:lstStyle>
            <a:lvl1pPr marL="0" indent="0">
              <a:buNone/>
              <a:defRPr lang="en-US" sz="5333" kern="1200" dirty="0" smtClean="0">
                <a:solidFill>
                  <a:srgbClr val="00467F"/>
                </a:solidFill>
                <a:latin typeface="Verdana Pro Bold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A5C2E8-B77C-826E-520D-B5E9DAC77F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7600" y="1519200"/>
            <a:ext cx="6205590" cy="287505"/>
          </a:xfrm>
        </p:spPr>
        <p:txBody>
          <a:bodyPr>
            <a:normAutofit/>
          </a:bodyPr>
          <a:lstStyle>
            <a:lvl1pPr marL="0" indent="0">
              <a:buNone/>
              <a:defRPr lang="en-NZ" sz="1867" kern="1200" spc="-37" dirty="0">
                <a:solidFill>
                  <a:srgbClr val="333333"/>
                </a:solidFill>
                <a:latin typeface="Verdana Pro Bold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your sub-heading here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5705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>
            <a:extLst>
              <a:ext uri="{FF2B5EF4-FFF2-40B4-BE49-F238E27FC236}">
                <a16:creationId xmlns:a16="http://schemas.microsoft.com/office/drawing/2014/main" id="{51797CD2-0FFE-A83D-433A-2BB5C55B1666}"/>
              </a:ext>
            </a:extLst>
          </p:cNvPr>
          <p:cNvSpPr/>
          <p:nvPr userDrawn="1"/>
        </p:nvSpPr>
        <p:spPr>
          <a:xfrm>
            <a:off x="697637" y="3626433"/>
            <a:ext cx="2527348" cy="393600"/>
          </a:xfrm>
          <a:custGeom>
            <a:avLst/>
            <a:gdLst/>
            <a:ahLst/>
            <a:cxnLst/>
            <a:rect l="l" t="t" r="r" b="b"/>
            <a:pathLst>
              <a:path w="998458" h="197625">
                <a:moveTo>
                  <a:pt x="0" y="0"/>
                </a:moveTo>
                <a:lnTo>
                  <a:pt x="998458" y="0"/>
                </a:lnTo>
                <a:lnTo>
                  <a:pt x="998458" y="197625"/>
                </a:lnTo>
                <a:lnTo>
                  <a:pt x="0" y="197625"/>
                </a:lnTo>
                <a:close/>
              </a:path>
            </a:pathLst>
          </a:custGeom>
          <a:solidFill>
            <a:srgbClr val="00467F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36EB2E9-9069-3367-3623-2698E3FBCED1}"/>
              </a:ext>
            </a:extLst>
          </p:cNvPr>
          <p:cNvSpPr txBox="1"/>
          <p:nvPr userDrawn="1"/>
        </p:nvSpPr>
        <p:spPr>
          <a:xfrm>
            <a:off x="697637" y="3650541"/>
            <a:ext cx="2527348" cy="47612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4F5D8A99-A891-E743-E724-3D694A896B9C}"/>
              </a:ext>
            </a:extLst>
          </p:cNvPr>
          <p:cNvSpPr/>
          <p:nvPr userDrawn="1"/>
        </p:nvSpPr>
        <p:spPr>
          <a:xfrm>
            <a:off x="697634" y="4032887"/>
            <a:ext cx="2527300" cy="2044700"/>
          </a:xfrm>
          <a:custGeom>
            <a:avLst/>
            <a:gdLst/>
            <a:ahLst/>
            <a:cxnLst/>
            <a:rect l="l" t="t" r="r" b="b"/>
            <a:pathLst>
              <a:path w="998440" h="807783">
                <a:moveTo>
                  <a:pt x="0" y="0"/>
                </a:moveTo>
                <a:lnTo>
                  <a:pt x="998440" y="0"/>
                </a:lnTo>
                <a:lnTo>
                  <a:pt x="998440" y="807783"/>
                </a:lnTo>
                <a:lnTo>
                  <a:pt x="0" y="807783"/>
                </a:lnTo>
                <a:close/>
              </a:path>
            </a:pathLst>
          </a:custGeom>
          <a:solidFill>
            <a:srgbClr val="F2F2F2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359C8A0-A109-114B-F775-40C1279AC471}"/>
              </a:ext>
            </a:extLst>
          </p:cNvPr>
          <p:cNvSpPr txBox="1"/>
          <p:nvPr userDrawn="1"/>
        </p:nvSpPr>
        <p:spPr>
          <a:xfrm>
            <a:off x="697634" y="4028858"/>
            <a:ext cx="2527300" cy="202059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7FC6DF87-24DC-C91E-5F5D-5CBA65665D34}"/>
              </a:ext>
            </a:extLst>
          </p:cNvPr>
          <p:cNvSpPr/>
          <p:nvPr userDrawn="1"/>
        </p:nvSpPr>
        <p:spPr>
          <a:xfrm>
            <a:off x="3483530" y="3626433"/>
            <a:ext cx="2527348" cy="393600"/>
          </a:xfrm>
          <a:custGeom>
            <a:avLst/>
            <a:gdLst/>
            <a:ahLst/>
            <a:cxnLst/>
            <a:rect l="l" t="t" r="r" b="b"/>
            <a:pathLst>
              <a:path w="998458" h="197625">
                <a:moveTo>
                  <a:pt x="0" y="0"/>
                </a:moveTo>
                <a:lnTo>
                  <a:pt x="998458" y="0"/>
                </a:lnTo>
                <a:lnTo>
                  <a:pt x="998458" y="197625"/>
                </a:lnTo>
                <a:lnTo>
                  <a:pt x="0" y="197625"/>
                </a:lnTo>
                <a:close/>
              </a:path>
            </a:pathLst>
          </a:custGeom>
          <a:solidFill>
            <a:srgbClr val="00467F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7C7BF036-1518-D578-0DF1-2B1FEE2DA69E}"/>
              </a:ext>
            </a:extLst>
          </p:cNvPr>
          <p:cNvSpPr txBox="1"/>
          <p:nvPr userDrawn="1"/>
        </p:nvSpPr>
        <p:spPr>
          <a:xfrm>
            <a:off x="3483530" y="3650541"/>
            <a:ext cx="2527348" cy="47612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627E9D79-2B99-CC09-ABFA-D7729320A16D}"/>
              </a:ext>
            </a:extLst>
          </p:cNvPr>
          <p:cNvSpPr/>
          <p:nvPr userDrawn="1"/>
        </p:nvSpPr>
        <p:spPr>
          <a:xfrm>
            <a:off x="3483527" y="4004750"/>
            <a:ext cx="2527300" cy="2044700"/>
          </a:xfrm>
          <a:custGeom>
            <a:avLst/>
            <a:gdLst/>
            <a:ahLst/>
            <a:cxnLst/>
            <a:rect l="l" t="t" r="r" b="b"/>
            <a:pathLst>
              <a:path w="998440" h="807783">
                <a:moveTo>
                  <a:pt x="0" y="0"/>
                </a:moveTo>
                <a:lnTo>
                  <a:pt x="998440" y="0"/>
                </a:lnTo>
                <a:lnTo>
                  <a:pt x="998440" y="807783"/>
                </a:lnTo>
                <a:lnTo>
                  <a:pt x="0" y="807783"/>
                </a:lnTo>
                <a:close/>
              </a:path>
            </a:pathLst>
          </a:custGeom>
          <a:solidFill>
            <a:srgbClr val="F2F2F2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34E940EC-501E-0015-6EFB-B5B3A27D25C2}"/>
              </a:ext>
            </a:extLst>
          </p:cNvPr>
          <p:cNvSpPr txBox="1"/>
          <p:nvPr userDrawn="1"/>
        </p:nvSpPr>
        <p:spPr>
          <a:xfrm>
            <a:off x="3483527" y="4150783"/>
            <a:ext cx="2527300" cy="202059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17" name="Freeform 15">
            <a:extLst>
              <a:ext uri="{FF2B5EF4-FFF2-40B4-BE49-F238E27FC236}">
                <a16:creationId xmlns:a16="http://schemas.microsoft.com/office/drawing/2014/main" id="{2DAF129E-5DF7-17F0-DA56-2EEC4A7E8A7A}"/>
              </a:ext>
            </a:extLst>
          </p:cNvPr>
          <p:cNvSpPr/>
          <p:nvPr userDrawn="1"/>
        </p:nvSpPr>
        <p:spPr>
          <a:xfrm>
            <a:off x="6285339" y="4004750"/>
            <a:ext cx="2527300" cy="2044700"/>
          </a:xfrm>
          <a:custGeom>
            <a:avLst/>
            <a:gdLst/>
            <a:ahLst/>
            <a:cxnLst/>
            <a:rect l="l" t="t" r="r" b="b"/>
            <a:pathLst>
              <a:path w="998440" h="807783">
                <a:moveTo>
                  <a:pt x="0" y="0"/>
                </a:moveTo>
                <a:lnTo>
                  <a:pt x="998440" y="0"/>
                </a:lnTo>
                <a:lnTo>
                  <a:pt x="998440" y="807783"/>
                </a:lnTo>
                <a:lnTo>
                  <a:pt x="0" y="807783"/>
                </a:lnTo>
                <a:close/>
              </a:path>
            </a:pathLst>
          </a:custGeom>
          <a:solidFill>
            <a:srgbClr val="F2F2F2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00E6FF12-3806-E4FE-DF02-251341A4B9F2}"/>
              </a:ext>
            </a:extLst>
          </p:cNvPr>
          <p:cNvSpPr txBox="1"/>
          <p:nvPr userDrawn="1"/>
        </p:nvSpPr>
        <p:spPr>
          <a:xfrm>
            <a:off x="6285339" y="4150783"/>
            <a:ext cx="2527300" cy="202059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FEC2776-B1EF-673D-00CC-08DCB1BB4265}"/>
              </a:ext>
            </a:extLst>
          </p:cNvPr>
          <p:cNvSpPr/>
          <p:nvPr userDrawn="1"/>
        </p:nvSpPr>
        <p:spPr>
          <a:xfrm>
            <a:off x="9078743" y="3626433"/>
            <a:ext cx="2527300" cy="393600"/>
          </a:xfrm>
          <a:custGeom>
            <a:avLst/>
            <a:gdLst/>
            <a:ahLst/>
            <a:cxnLst/>
            <a:rect l="l" t="t" r="r" b="b"/>
            <a:pathLst>
              <a:path w="998440" h="197625">
                <a:moveTo>
                  <a:pt x="0" y="0"/>
                </a:moveTo>
                <a:lnTo>
                  <a:pt x="998440" y="0"/>
                </a:lnTo>
                <a:lnTo>
                  <a:pt x="998440" y="197625"/>
                </a:lnTo>
                <a:lnTo>
                  <a:pt x="0" y="197625"/>
                </a:lnTo>
                <a:close/>
              </a:path>
            </a:pathLst>
          </a:custGeom>
          <a:solidFill>
            <a:srgbClr val="8D9091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75745D-FC2C-AE89-46A3-1882C0125062}"/>
              </a:ext>
            </a:extLst>
          </p:cNvPr>
          <p:cNvSpPr txBox="1"/>
          <p:nvPr userDrawn="1"/>
        </p:nvSpPr>
        <p:spPr>
          <a:xfrm>
            <a:off x="9078743" y="3650541"/>
            <a:ext cx="2527300" cy="47612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2DE9B4B8-2B7F-D07D-A367-590A6E29BBFF}"/>
              </a:ext>
            </a:extLst>
          </p:cNvPr>
          <p:cNvSpPr/>
          <p:nvPr userDrawn="1"/>
        </p:nvSpPr>
        <p:spPr>
          <a:xfrm>
            <a:off x="9078743" y="4004750"/>
            <a:ext cx="2527300" cy="2044700"/>
          </a:xfrm>
          <a:custGeom>
            <a:avLst/>
            <a:gdLst/>
            <a:ahLst/>
            <a:cxnLst/>
            <a:rect l="l" t="t" r="r" b="b"/>
            <a:pathLst>
              <a:path w="998440" h="807783">
                <a:moveTo>
                  <a:pt x="0" y="0"/>
                </a:moveTo>
                <a:lnTo>
                  <a:pt x="998440" y="0"/>
                </a:lnTo>
                <a:lnTo>
                  <a:pt x="998440" y="807783"/>
                </a:lnTo>
                <a:lnTo>
                  <a:pt x="0" y="807783"/>
                </a:lnTo>
                <a:close/>
              </a:path>
            </a:pathLst>
          </a:custGeom>
          <a:solidFill>
            <a:srgbClr val="F2F2F2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9826AE8-EF51-2F74-3805-857477D6E2CD}"/>
              </a:ext>
            </a:extLst>
          </p:cNvPr>
          <p:cNvSpPr txBox="1"/>
          <p:nvPr userDrawn="1"/>
        </p:nvSpPr>
        <p:spPr>
          <a:xfrm>
            <a:off x="9078743" y="4150783"/>
            <a:ext cx="2527300" cy="202059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23" name="Freeform 24">
            <a:extLst>
              <a:ext uri="{FF2B5EF4-FFF2-40B4-BE49-F238E27FC236}">
                <a16:creationId xmlns:a16="http://schemas.microsoft.com/office/drawing/2014/main" id="{74446ED0-6D34-63EB-E45A-871B3CCFA8B5}"/>
              </a:ext>
            </a:extLst>
          </p:cNvPr>
          <p:cNvSpPr/>
          <p:nvPr userDrawn="1"/>
        </p:nvSpPr>
        <p:spPr>
          <a:xfrm>
            <a:off x="697634" y="1761784"/>
            <a:ext cx="2527300" cy="1765333"/>
          </a:xfrm>
          <a:custGeom>
            <a:avLst/>
            <a:gdLst/>
            <a:ahLst/>
            <a:cxnLst/>
            <a:rect l="l" t="t" r="r" b="b"/>
            <a:pathLst>
              <a:path w="998440" h="697416">
                <a:moveTo>
                  <a:pt x="0" y="0"/>
                </a:moveTo>
                <a:lnTo>
                  <a:pt x="998440" y="0"/>
                </a:lnTo>
                <a:lnTo>
                  <a:pt x="998440" y="697416"/>
                </a:lnTo>
                <a:lnTo>
                  <a:pt x="0" y="697416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/>
          <a:lstStyle/>
          <a:p>
            <a:pPr lvl="0"/>
            <a:endParaRPr lang="en-NZ" sz="601"/>
          </a:p>
        </p:txBody>
      </p:sp>
      <p:sp>
        <p:nvSpPr>
          <p:cNvPr id="24" name="Freeform 27">
            <a:extLst>
              <a:ext uri="{FF2B5EF4-FFF2-40B4-BE49-F238E27FC236}">
                <a16:creationId xmlns:a16="http://schemas.microsoft.com/office/drawing/2014/main" id="{8262756A-E154-87D3-516D-3BEE8AF9BE58}"/>
              </a:ext>
            </a:extLst>
          </p:cNvPr>
          <p:cNvSpPr/>
          <p:nvPr userDrawn="1"/>
        </p:nvSpPr>
        <p:spPr>
          <a:xfrm>
            <a:off x="3483527" y="1761784"/>
            <a:ext cx="2527300" cy="1765333"/>
          </a:xfrm>
          <a:custGeom>
            <a:avLst/>
            <a:gdLst/>
            <a:ahLst/>
            <a:cxnLst/>
            <a:rect l="l" t="t" r="r" b="b"/>
            <a:pathLst>
              <a:path w="998440" h="697416">
                <a:moveTo>
                  <a:pt x="0" y="0"/>
                </a:moveTo>
                <a:lnTo>
                  <a:pt x="998440" y="0"/>
                </a:lnTo>
                <a:lnTo>
                  <a:pt x="998440" y="697416"/>
                </a:lnTo>
                <a:lnTo>
                  <a:pt x="0" y="697416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/>
          <a:lstStyle/>
          <a:p>
            <a:pPr lvl="0"/>
            <a:endParaRPr lang="en-NZ" sz="601"/>
          </a:p>
        </p:txBody>
      </p:sp>
      <p:sp>
        <p:nvSpPr>
          <p:cNvPr id="25" name="Freeform 30">
            <a:extLst>
              <a:ext uri="{FF2B5EF4-FFF2-40B4-BE49-F238E27FC236}">
                <a16:creationId xmlns:a16="http://schemas.microsoft.com/office/drawing/2014/main" id="{B13F7B80-26F9-2531-1D41-5DE6998C8630}"/>
              </a:ext>
            </a:extLst>
          </p:cNvPr>
          <p:cNvSpPr/>
          <p:nvPr userDrawn="1"/>
        </p:nvSpPr>
        <p:spPr>
          <a:xfrm>
            <a:off x="6285339" y="1761784"/>
            <a:ext cx="2527300" cy="1765333"/>
          </a:xfrm>
          <a:custGeom>
            <a:avLst/>
            <a:gdLst/>
            <a:ahLst/>
            <a:cxnLst/>
            <a:rect l="l" t="t" r="r" b="b"/>
            <a:pathLst>
              <a:path w="998440" h="697416">
                <a:moveTo>
                  <a:pt x="0" y="0"/>
                </a:moveTo>
                <a:lnTo>
                  <a:pt x="998440" y="0"/>
                </a:lnTo>
                <a:lnTo>
                  <a:pt x="998440" y="697416"/>
                </a:lnTo>
                <a:lnTo>
                  <a:pt x="0" y="697416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/>
          <a:lstStyle/>
          <a:p>
            <a:pPr lvl="0"/>
            <a:endParaRPr lang="en-NZ" sz="601"/>
          </a:p>
        </p:txBody>
      </p:sp>
      <p:sp>
        <p:nvSpPr>
          <p:cNvPr id="26" name="Freeform 33">
            <a:extLst>
              <a:ext uri="{FF2B5EF4-FFF2-40B4-BE49-F238E27FC236}">
                <a16:creationId xmlns:a16="http://schemas.microsoft.com/office/drawing/2014/main" id="{410B0C1B-7D9D-2D47-ADA9-D12E3E5F73FC}"/>
              </a:ext>
            </a:extLst>
          </p:cNvPr>
          <p:cNvSpPr/>
          <p:nvPr userDrawn="1"/>
        </p:nvSpPr>
        <p:spPr>
          <a:xfrm>
            <a:off x="9078743" y="1761784"/>
            <a:ext cx="2527300" cy="1765333"/>
          </a:xfrm>
          <a:custGeom>
            <a:avLst/>
            <a:gdLst/>
            <a:ahLst/>
            <a:cxnLst/>
            <a:rect l="l" t="t" r="r" b="b"/>
            <a:pathLst>
              <a:path w="998440" h="697416">
                <a:moveTo>
                  <a:pt x="0" y="0"/>
                </a:moveTo>
                <a:lnTo>
                  <a:pt x="998440" y="0"/>
                </a:lnTo>
                <a:lnTo>
                  <a:pt x="998440" y="697416"/>
                </a:lnTo>
                <a:lnTo>
                  <a:pt x="0" y="697416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/>
          <a:lstStyle/>
          <a:p>
            <a:endParaRPr lang="en-NZ" sz="601"/>
          </a:p>
        </p:txBody>
      </p:sp>
      <p:sp>
        <p:nvSpPr>
          <p:cNvPr id="29" name="Freeform 40">
            <a:extLst>
              <a:ext uri="{FF2B5EF4-FFF2-40B4-BE49-F238E27FC236}">
                <a16:creationId xmlns:a16="http://schemas.microsoft.com/office/drawing/2014/main" id="{093EA720-BBB1-D583-BF06-012D7F45944E}"/>
              </a:ext>
            </a:extLst>
          </p:cNvPr>
          <p:cNvSpPr/>
          <p:nvPr userDrawn="1"/>
        </p:nvSpPr>
        <p:spPr>
          <a:xfrm>
            <a:off x="6285293" y="3626433"/>
            <a:ext cx="2527348" cy="393600"/>
          </a:xfrm>
          <a:custGeom>
            <a:avLst/>
            <a:gdLst/>
            <a:ahLst/>
            <a:cxnLst/>
            <a:rect l="l" t="t" r="r" b="b"/>
            <a:pathLst>
              <a:path w="998458" h="197625">
                <a:moveTo>
                  <a:pt x="0" y="0"/>
                </a:moveTo>
                <a:lnTo>
                  <a:pt x="998458" y="0"/>
                </a:lnTo>
                <a:lnTo>
                  <a:pt x="998458" y="197625"/>
                </a:lnTo>
                <a:lnTo>
                  <a:pt x="0" y="197625"/>
                </a:lnTo>
                <a:close/>
              </a:path>
            </a:pathLst>
          </a:custGeom>
          <a:solidFill>
            <a:srgbClr val="00467F"/>
          </a:solidFill>
        </p:spPr>
        <p:txBody>
          <a:bodyPr/>
          <a:lstStyle/>
          <a:p>
            <a:endParaRPr lang="en-NZ" sz="601"/>
          </a:p>
        </p:txBody>
      </p:sp>
      <p:sp>
        <p:nvSpPr>
          <p:cNvPr id="30" name="TextBox 41">
            <a:extLst>
              <a:ext uri="{FF2B5EF4-FFF2-40B4-BE49-F238E27FC236}">
                <a16:creationId xmlns:a16="http://schemas.microsoft.com/office/drawing/2014/main" id="{0BC09BBF-1AB5-DB0E-E1BF-BEAAFC35B5EC}"/>
              </a:ext>
            </a:extLst>
          </p:cNvPr>
          <p:cNvSpPr txBox="1"/>
          <p:nvPr userDrawn="1"/>
        </p:nvSpPr>
        <p:spPr>
          <a:xfrm>
            <a:off x="6285341" y="3650541"/>
            <a:ext cx="2527348" cy="47612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920"/>
              </a:lnSpc>
            </a:pPr>
            <a:endParaRPr sz="601"/>
          </a:p>
        </p:txBody>
      </p:sp>
      <p:sp>
        <p:nvSpPr>
          <p:cNvPr id="33" name="TextBox 47">
            <a:extLst>
              <a:ext uri="{FF2B5EF4-FFF2-40B4-BE49-F238E27FC236}">
                <a16:creationId xmlns:a16="http://schemas.microsoft.com/office/drawing/2014/main" id="{2587363E-083B-E66A-0DD6-44409734DE3A}"/>
              </a:ext>
            </a:extLst>
          </p:cNvPr>
          <p:cNvSpPr txBox="1"/>
          <p:nvPr userDrawn="1"/>
        </p:nvSpPr>
        <p:spPr>
          <a:xfrm>
            <a:off x="9172831" y="3723312"/>
            <a:ext cx="2374900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Verdana Pro Bold"/>
              </a:rPr>
              <a:t>Section 4 (future)</a:t>
            </a:r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819BED60-6853-A54F-59C5-31F3DE8F95B8}"/>
              </a:ext>
            </a:extLst>
          </p:cNvPr>
          <p:cNvSpPr txBox="1"/>
          <p:nvPr userDrawn="1"/>
        </p:nvSpPr>
        <p:spPr>
          <a:xfrm>
            <a:off x="9172831" y="4063504"/>
            <a:ext cx="2374900" cy="2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33">
                <a:solidFill>
                  <a:schemeClr val="accent4"/>
                </a:solidFill>
                <a:latin typeface="Verdana Pro"/>
                <a:ea typeface="+mn-lt"/>
                <a:cs typeface="+mn-lt"/>
              </a:rPr>
              <a:t>Text description</a:t>
            </a:r>
            <a:endParaRPr lang="en-US" sz="1333">
              <a:solidFill>
                <a:srgbClr val="4A4A4C"/>
              </a:solidFill>
              <a:latin typeface="Verdana Pro"/>
            </a:endParaRPr>
          </a:p>
        </p:txBody>
      </p:sp>
      <p:sp>
        <p:nvSpPr>
          <p:cNvPr id="35" name="TextBox 50">
            <a:extLst>
              <a:ext uri="{FF2B5EF4-FFF2-40B4-BE49-F238E27FC236}">
                <a16:creationId xmlns:a16="http://schemas.microsoft.com/office/drawing/2014/main" id="{8CE2C14D-97FA-A395-4D3E-76CCD6B4BAF6}"/>
              </a:ext>
            </a:extLst>
          </p:cNvPr>
          <p:cNvSpPr txBox="1"/>
          <p:nvPr userDrawn="1"/>
        </p:nvSpPr>
        <p:spPr>
          <a:xfrm>
            <a:off x="3559731" y="3722317"/>
            <a:ext cx="2374900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  <a:spcBef>
                <a:spcPct val="0"/>
              </a:spcBef>
            </a:pPr>
            <a:r>
              <a:rPr lang="en-US" sz="1535">
                <a:solidFill>
                  <a:srgbClr val="FFFFFF"/>
                </a:solidFill>
                <a:latin typeface="Verdana Pro Bold"/>
              </a:rPr>
              <a:t>Section 2</a:t>
            </a:r>
          </a:p>
        </p:txBody>
      </p:sp>
      <p:sp>
        <p:nvSpPr>
          <p:cNvPr id="36" name="TextBox 51">
            <a:extLst>
              <a:ext uri="{FF2B5EF4-FFF2-40B4-BE49-F238E27FC236}">
                <a16:creationId xmlns:a16="http://schemas.microsoft.com/office/drawing/2014/main" id="{1C30C470-BEA5-2018-FC31-824BC03C318E}"/>
              </a:ext>
            </a:extLst>
          </p:cNvPr>
          <p:cNvSpPr txBox="1"/>
          <p:nvPr userDrawn="1"/>
        </p:nvSpPr>
        <p:spPr>
          <a:xfrm>
            <a:off x="3571445" y="4109952"/>
            <a:ext cx="2374900" cy="2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33">
                <a:solidFill>
                  <a:schemeClr val="accent4"/>
                </a:solidFill>
                <a:latin typeface="Verdana Pro"/>
                <a:ea typeface="+mn-lt"/>
                <a:cs typeface="+mn-lt"/>
              </a:rPr>
              <a:t>Text description</a:t>
            </a:r>
            <a:endParaRPr lang="en-US" sz="1333">
              <a:solidFill>
                <a:srgbClr val="4A4A4C"/>
              </a:solidFill>
              <a:latin typeface="Verdana Pro"/>
            </a:endParaRPr>
          </a:p>
        </p:txBody>
      </p:sp>
      <p:sp>
        <p:nvSpPr>
          <p:cNvPr id="37" name="TextBox 53">
            <a:extLst>
              <a:ext uri="{FF2B5EF4-FFF2-40B4-BE49-F238E27FC236}">
                <a16:creationId xmlns:a16="http://schemas.microsoft.com/office/drawing/2014/main" id="{011235BD-0A81-7093-F799-E64BE640C5F3}"/>
              </a:ext>
            </a:extLst>
          </p:cNvPr>
          <p:cNvSpPr txBox="1"/>
          <p:nvPr userDrawn="1"/>
        </p:nvSpPr>
        <p:spPr>
          <a:xfrm>
            <a:off x="6366133" y="3722317"/>
            <a:ext cx="2374900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  <a:spcBef>
                <a:spcPct val="0"/>
              </a:spcBef>
            </a:pPr>
            <a:r>
              <a:rPr lang="en-US" sz="1535">
                <a:solidFill>
                  <a:srgbClr val="FFFFFF"/>
                </a:solidFill>
                <a:latin typeface="Verdana Pro Bold"/>
              </a:rPr>
              <a:t>Section 3</a:t>
            </a:r>
          </a:p>
        </p:txBody>
      </p:sp>
      <p:sp>
        <p:nvSpPr>
          <p:cNvPr id="38" name="TextBox 54">
            <a:extLst>
              <a:ext uri="{FF2B5EF4-FFF2-40B4-BE49-F238E27FC236}">
                <a16:creationId xmlns:a16="http://schemas.microsoft.com/office/drawing/2014/main" id="{77BDD494-6B27-4B9D-4446-1EC6E2414A71}"/>
              </a:ext>
            </a:extLst>
          </p:cNvPr>
          <p:cNvSpPr txBox="1"/>
          <p:nvPr userDrawn="1"/>
        </p:nvSpPr>
        <p:spPr>
          <a:xfrm>
            <a:off x="6366133" y="4063505"/>
            <a:ext cx="2374900" cy="2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33">
                <a:solidFill>
                  <a:schemeClr val="accent4"/>
                </a:solidFill>
                <a:latin typeface="Verdana Pro"/>
                <a:ea typeface="+mn-lt"/>
                <a:cs typeface="+mn-lt"/>
              </a:rPr>
              <a:t>Text description</a:t>
            </a:r>
            <a:endParaRPr lang="en-US" sz="1333">
              <a:cs typeface="Calibri"/>
            </a:endParaRPr>
          </a:p>
        </p:txBody>
      </p:sp>
      <p:sp>
        <p:nvSpPr>
          <p:cNvPr id="39" name="TextBox 55">
            <a:extLst>
              <a:ext uri="{FF2B5EF4-FFF2-40B4-BE49-F238E27FC236}">
                <a16:creationId xmlns:a16="http://schemas.microsoft.com/office/drawing/2014/main" id="{3A3DB754-8242-E228-1FF4-9A12B5B171FA}"/>
              </a:ext>
            </a:extLst>
          </p:cNvPr>
          <p:cNvSpPr txBox="1"/>
          <p:nvPr userDrawn="1"/>
        </p:nvSpPr>
        <p:spPr>
          <a:xfrm>
            <a:off x="697636" y="531516"/>
            <a:ext cx="10820400" cy="59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7"/>
              </a:lnSpc>
              <a:spcBef>
                <a:spcPct val="0"/>
              </a:spcBef>
            </a:pPr>
            <a:r>
              <a:rPr lang="en-US" sz="3733">
                <a:solidFill>
                  <a:srgbClr val="00467F"/>
                </a:solidFill>
                <a:latin typeface="Verdana Pro Bold"/>
              </a:rPr>
              <a:t>Heading</a:t>
            </a:r>
          </a:p>
        </p:txBody>
      </p:sp>
      <p:sp>
        <p:nvSpPr>
          <p:cNvPr id="40" name="TextBox 57">
            <a:extLst>
              <a:ext uri="{FF2B5EF4-FFF2-40B4-BE49-F238E27FC236}">
                <a16:creationId xmlns:a16="http://schemas.microsoft.com/office/drawing/2014/main" id="{B6A60DF1-F1C5-B234-5DBE-09509D5B83E4}"/>
              </a:ext>
            </a:extLst>
          </p:cNvPr>
          <p:cNvSpPr txBox="1"/>
          <p:nvPr userDrawn="1"/>
        </p:nvSpPr>
        <p:spPr>
          <a:xfrm>
            <a:off x="773838" y="3722317"/>
            <a:ext cx="2374900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  <a:spcBef>
                <a:spcPct val="0"/>
              </a:spcBef>
            </a:pPr>
            <a:r>
              <a:rPr lang="en-US" sz="1535">
                <a:solidFill>
                  <a:srgbClr val="FFFFFF"/>
                </a:solidFill>
                <a:latin typeface="Verdana Pro Bold"/>
              </a:rPr>
              <a:t>Section 1</a:t>
            </a:r>
          </a:p>
        </p:txBody>
      </p:sp>
      <p:sp>
        <p:nvSpPr>
          <p:cNvPr id="41" name="TextBox 58">
            <a:extLst>
              <a:ext uri="{FF2B5EF4-FFF2-40B4-BE49-F238E27FC236}">
                <a16:creationId xmlns:a16="http://schemas.microsoft.com/office/drawing/2014/main" id="{D76FA336-060C-FCB9-1EC7-BC9AB7F093AD}"/>
              </a:ext>
            </a:extLst>
          </p:cNvPr>
          <p:cNvSpPr txBox="1"/>
          <p:nvPr userDrawn="1"/>
        </p:nvSpPr>
        <p:spPr>
          <a:xfrm>
            <a:off x="773838" y="4109952"/>
            <a:ext cx="2374900" cy="22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1333">
                <a:solidFill>
                  <a:schemeClr val="accent4"/>
                </a:solidFill>
                <a:latin typeface="Verdana Pro"/>
                <a:ea typeface="+mn-lt"/>
                <a:cs typeface="+mn-lt"/>
              </a:rPr>
              <a:t>Text description</a:t>
            </a:r>
            <a:endParaRPr lang="en-US" sz="1333">
              <a:solidFill>
                <a:schemeClr val="accent4"/>
              </a:solidFill>
              <a:latin typeface="Verdana Pro"/>
              <a:cs typeface="Calibri"/>
            </a:endParaRPr>
          </a:p>
        </p:txBody>
      </p:sp>
      <p:sp>
        <p:nvSpPr>
          <p:cNvPr id="42" name="TextBox 59">
            <a:extLst>
              <a:ext uri="{FF2B5EF4-FFF2-40B4-BE49-F238E27FC236}">
                <a16:creationId xmlns:a16="http://schemas.microsoft.com/office/drawing/2014/main" id="{325E6FE6-3774-AEB6-38EF-4DF47B170B3A}"/>
              </a:ext>
            </a:extLst>
          </p:cNvPr>
          <p:cNvSpPr txBox="1"/>
          <p:nvPr userDrawn="1"/>
        </p:nvSpPr>
        <p:spPr>
          <a:xfrm>
            <a:off x="723594" y="1141537"/>
            <a:ext cx="10782612" cy="25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</a:pPr>
            <a:r>
              <a:rPr lang="en-US" sz="1600">
                <a:solidFill>
                  <a:srgbClr val="4A4A4C"/>
                </a:solidFill>
                <a:latin typeface="Verdana Pro Bold"/>
              </a:rPr>
              <a:t>Click to edit your sub-heading</a:t>
            </a:r>
          </a:p>
        </p:txBody>
      </p:sp>
      <p:sp>
        <p:nvSpPr>
          <p:cNvPr id="43" name="Freeform 61">
            <a:extLst>
              <a:ext uri="{FF2B5EF4-FFF2-40B4-BE49-F238E27FC236}">
                <a16:creationId xmlns:a16="http://schemas.microsoft.com/office/drawing/2014/main" id="{55EFE02E-BDFA-4AAB-35C4-DF47D6EAB2B2}"/>
              </a:ext>
            </a:extLst>
          </p:cNvPr>
          <p:cNvSpPr/>
          <p:nvPr userDrawn="1"/>
        </p:nvSpPr>
        <p:spPr>
          <a:xfrm>
            <a:off x="685801" y="6349174"/>
            <a:ext cx="1431355" cy="258441"/>
          </a:xfrm>
          <a:custGeom>
            <a:avLst/>
            <a:gdLst/>
            <a:ahLst/>
            <a:cxnLst/>
            <a:rect l="l" t="t" r="r" b="b"/>
            <a:pathLst>
              <a:path w="2862709" h="516878">
                <a:moveTo>
                  <a:pt x="0" y="0"/>
                </a:moveTo>
                <a:lnTo>
                  <a:pt x="2862709" y="0"/>
                </a:lnTo>
                <a:lnTo>
                  <a:pt x="2862709" y="516878"/>
                </a:lnTo>
                <a:lnTo>
                  <a:pt x="0" y="51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Z" sz="601"/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D433043C-3A2E-E6D3-3CA5-E35C1620EBD3}"/>
              </a:ext>
            </a:extLst>
          </p:cNvPr>
          <p:cNvSpPr txBox="1"/>
          <p:nvPr userDrawn="1"/>
        </p:nvSpPr>
        <p:spPr>
          <a:xfrm>
            <a:off x="2202055" y="6369390"/>
            <a:ext cx="9875652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600">
                <a:solidFill>
                  <a:srgbClr val="000000"/>
                </a:solidFill>
                <a:latin typeface="Verdana Pro"/>
              </a:rPr>
              <a:t>Home / </a:t>
            </a:r>
            <a:r>
              <a:rPr lang="en-US" sz="1600" b="1">
                <a:solidFill>
                  <a:srgbClr val="000000"/>
                </a:solidFill>
                <a:latin typeface="Verdana Pro"/>
                <a:hlinkClick r:id="rId3"/>
              </a:rPr>
              <a:t>Managing research data and artefacts</a:t>
            </a:r>
            <a:endParaRPr lang="en-US" sz="1600" b="1" u="sng">
              <a:solidFill>
                <a:srgbClr val="009AC7"/>
              </a:solidFill>
              <a:latin typeface="Verdana Pro"/>
              <a:hlinkClick r:id="rId4" tooltip="https://research-hub.auckland.ac.nz/guide-to-managing-research-data/rd-support-and-training/research-data-management-overview"/>
            </a:endParaRPr>
          </a:p>
        </p:txBody>
      </p:sp>
    </p:spTree>
    <p:extLst>
      <p:ext uri="{BB962C8B-B14F-4D97-AF65-F5344CB8AC3E}">
        <p14:creationId xmlns:p14="http://schemas.microsoft.com/office/powerpoint/2010/main" val="78471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2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1">
            <a:extLst>
              <a:ext uri="{FF2B5EF4-FFF2-40B4-BE49-F238E27FC236}">
                <a16:creationId xmlns:a16="http://schemas.microsoft.com/office/drawing/2014/main" id="{3B68979A-5415-433D-7FB2-04D8B560B753}"/>
              </a:ext>
            </a:extLst>
          </p:cNvPr>
          <p:cNvSpPr/>
          <p:nvPr userDrawn="1"/>
        </p:nvSpPr>
        <p:spPr>
          <a:xfrm>
            <a:off x="685802" y="1778979"/>
            <a:ext cx="5295973" cy="2581479"/>
          </a:xfrm>
          <a:custGeom>
            <a:avLst/>
            <a:gdLst/>
            <a:ahLst/>
            <a:cxnLst/>
            <a:rect l="l" t="t" r="r" b="b"/>
            <a:pathLst>
              <a:path w="7943960" h="3872218">
                <a:moveTo>
                  <a:pt x="0" y="0"/>
                </a:moveTo>
                <a:lnTo>
                  <a:pt x="7943960" y="0"/>
                </a:lnTo>
                <a:lnTo>
                  <a:pt x="7943960" y="3872218"/>
                </a:lnTo>
                <a:lnTo>
                  <a:pt x="0" y="387221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/>
          <a:lstStyle/>
          <a:p>
            <a:pPr lvl="0"/>
            <a:endParaRPr lang="en-NZ" sz="601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723244C0-A373-8189-CCE9-5F45C588F0B2}"/>
              </a:ext>
            </a:extLst>
          </p:cNvPr>
          <p:cNvSpPr/>
          <p:nvPr userDrawn="1"/>
        </p:nvSpPr>
        <p:spPr>
          <a:xfrm>
            <a:off x="6216692" y="1785023"/>
            <a:ext cx="5289513" cy="2572516"/>
          </a:xfrm>
          <a:custGeom>
            <a:avLst/>
            <a:gdLst/>
            <a:ahLst/>
            <a:cxnLst/>
            <a:rect l="l" t="t" r="r" b="b"/>
            <a:pathLst>
              <a:path w="7934270" h="3858771">
                <a:moveTo>
                  <a:pt x="0" y="0"/>
                </a:moveTo>
                <a:lnTo>
                  <a:pt x="7934270" y="0"/>
                </a:lnTo>
                <a:lnTo>
                  <a:pt x="7934270" y="3858770"/>
                </a:lnTo>
                <a:lnTo>
                  <a:pt x="0" y="385877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/>
          <a:lstStyle/>
          <a:p>
            <a:pPr lvl="0"/>
            <a:endParaRPr lang="en-NZ" sz="601"/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75DE583-0805-F49C-2076-42E6E05069D1}"/>
              </a:ext>
            </a:extLst>
          </p:cNvPr>
          <p:cNvGrpSpPr/>
          <p:nvPr userDrawn="1"/>
        </p:nvGrpSpPr>
        <p:grpSpPr>
          <a:xfrm>
            <a:off x="685802" y="4444667"/>
            <a:ext cx="5295973" cy="1732671"/>
            <a:chOff x="0" y="0"/>
            <a:chExt cx="2092236" cy="684512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B235C30-7741-A364-9422-72B059FA776B}"/>
                </a:ext>
              </a:extLst>
            </p:cNvPr>
            <p:cNvSpPr/>
            <p:nvPr/>
          </p:nvSpPr>
          <p:spPr>
            <a:xfrm>
              <a:off x="0" y="0"/>
              <a:ext cx="2092236" cy="684512"/>
            </a:xfrm>
            <a:custGeom>
              <a:avLst/>
              <a:gdLst/>
              <a:ahLst/>
              <a:cxnLst/>
              <a:rect l="l" t="t" r="r" b="b"/>
              <a:pathLst>
                <a:path w="2092236" h="684512">
                  <a:moveTo>
                    <a:pt x="0" y="0"/>
                  </a:moveTo>
                  <a:lnTo>
                    <a:pt x="2092236" y="0"/>
                  </a:lnTo>
                  <a:lnTo>
                    <a:pt x="2092236" y="684512"/>
                  </a:lnTo>
                  <a:lnTo>
                    <a:pt x="0" y="68451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NZ" sz="601"/>
            </a:p>
          </p:txBody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145BAFE6-069C-00BC-4606-DE193892DC6F}"/>
                </a:ext>
              </a:extLst>
            </p:cNvPr>
            <p:cNvSpPr txBox="1"/>
            <p:nvPr/>
          </p:nvSpPr>
          <p:spPr>
            <a:xfrm>
              <a:off x="0" y="9525"/>
              <a:ext cx="2092236" cy="6749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0"/>
                </a:lnSpc>
              </a:pPr>
              <a:endParaRPr sz="601"/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7E916D63-F9F3-E698-7298-E5E73A7E5B7C}"/>
              </a:ext>
            </a:extLst>
          </p:cNvPr>
          <p:cNvGrpSpPr/>
          <p:nvPr userDrawn="1"/>
        </p:nvGrpSpPr>
        <p:grpSpPr>
          <a:xfrm>
            <a:off x="6216690" y="4444666"/>
            <a:ext cx="5289551" cy="1734948"/>
            <a:chOff x="0" y="0"/>
            <a:chExt cx="2089699" cy="685412"/>
          </a:xfrm>
        </p:grpSpPr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79B08A6E-DDFC-D6EF-E280-751ACD7E2550}"/>
                </a:ext>
              </a:extLst>
            </p:cNvPr>
            <p:cNvSpPr/>
            <p:nvPr/>
          </p:nvSpPr>
          <p:spPr>
            <a:xfrm>
              <a:off x="0" y="0"/>
              <a:ext cx="2089699" cy="685412"/>
            </a:xfrm>
            <a:custGeom>
              <a:avLst/>
              <a:gdLst/>
              <a:ahLst/>
              <a:cxnLst/>
              <a:rect l="l" t="t" r="r" b="b"/>
              <a:pathLst>
                <a:path w="2089699" h="685412">
                  <a:moveTo>
                    <a:pt x="0" y="0"/>
                  </a:moveTo>
                  <a:lnTo>
                    <a:pt x="2089699" y="0"/>
                  </a:lnTo>
                  <a:lnTo>
                    <a:pt x="2089699" y="685412"/>
                  </a:lnTo>
                  <a:lnTo>
                    <a:pt x="0" y="68541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NZ" sz="601"/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6CE32FA6-5768-2223-D59F-A80235AFF5F4}"/>
                </a:ext>
              </a:extLst>
            </p:cNvPr>
            <p:cNvSpPr txBox="1"/>
            <p:nvPr/>
          </p:nvSpPr>
          <p:spPr>
            <a:xfrm>
              <a:off x="0" y="9525"/>
              <a:ext cx="2089699" cy="6758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0"/>
                </a:lnSpc>
              </a:pPr>
              <a:endParaRPr sz="601"/>
            </a:p>
          </p:txBody>
        </p:sp>
      </p:grpSp>
      <p:sp>
        <p:nvSpPr>
          <p:cNvPr id="19" name="TextBox 20">
            <a:extLst>
              <a:ext uri="{FF2B5EF4-FFF2-40B4-BE49-F238E27FC236}">
                <a16:creationId xmlns:a16="http://schemas.microsoft.com/office/drawing/2014/main" id="{58602119-92A0-6EAF-48BF-D2843CCF01B0}"/>
              </a:ext>
            </a:extLst>
          </p:cNvPr>
          <p:cNvSpPr txBox="1"/>
          <p:nvPr userDrawn="1"/>
        </p:nvSpPr>
        <p:spPr>
          <a:xfrm>
            <a:off x="799977" y="4523567"/>
            <a:ext cx="5081435" cy="18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47"/>
              </a:lnSpc>
            </a:pPr>
            <a:r>
              <a:rPr lang="en-US" sz="1265">
                <a:solidFill>
                  <a:srgbClr val="4A4A4C"/>
                </a:solidFill>
                <a:latin typeface="Verdana Pro"/>
              </a:rPr>
              <a:t>Text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F7B4550E-75FA-4D86-B70D-686197BBA497}"/>
              </a:ext>
            </a:extLst>
          </p:cNvPr>
          <p:cNvSpPr txBox="1"/>
          <p:nvPr userDrawn="1"/>
        </p:nvSpPr>
        <p:spPr>
          <a:xfrm>
            <a:off x="6327229" y="4523569"/>
            <a:ext cx="5068473" cy="18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47"/>
              </a:lnSpc>
            </a:pPr>
            <a:r>
              <a:rPr lang="en-US" sz="1265">
                <a:solidFill>
                  <a:srgbClr val="4A4A4C"/>
                </a:solidFill>
                <a:latin typeface="Verdana Pro"/>
              </a:rPr>
              <a:t>Text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7D54B808-FEAE-A4F2-3FCF-6C383EB0412A}"/>
              </a:ext>
            </a:extLst>
          </p:cNvPr>
          <p:cNvSpPr txBox="1"/>
          <p:nvPr userDrawn="1"/>
        </p:nvSpPr>
        <p:spPr>
          <a:xfrm>
            <a:off x="723593" y="531516"/>
            <a:ext cx="10820400" cy="59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7"/>
              </a:lnSpc>
              <a:spcBef>
                <a:spcPct val="0"/>
              </a:spcBef>
            </a:pPr>
            <a:r>
              <a:rPr lang="en-US" sz="3733">
                <a:solidFill>
                  <a:srgbClr val="00467F"/>
                </a:solidFill>
                <a:latin typeface="Verdana Pro Bold"/>
              </a:rPr>
              <a:t>Heading</a:t>
            </a:r>
          </a:p>
        </p:txBody>
      </p:sp>
      <p:sp>
        <p:nvSpPr>
          <p:cNvPr id="22" name="TextBox 23">
            <a:extLst>
              <a:ext uri="{FF2B5EF4-FFF2-40B4-BE49-F238E27FC236}">
                <a16:creationId xmlns:a16="http://schemas.microsoft.com/office/drawing/2014/main" id="{DDA6C3E0-FA89-A07D-6E7A-169BA57C322D}"/>
              </a:ext>
            </a:extLst>
          </p:cNvPr>
          <p:cNvSpPr txBox="1"/>
          <p:nvPr userDrawn="1"/>
        </p:nvSpPr>
        <p:spPr>
          <a:xfrm>
            <a:off x="723594" y="1173290"/>
            <a:ext cx="1078261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20"/>
              </a:lnSpc>
            </a:pPr>
            <a:r>
              <a:rPr lang="en-US" sz="1600">
                <a:solidFill>
                  <a:srgbClr val="4A4A4C"/>
                </a:solidFill>
                <a:latin typeface="Verdana Pro Bold"/>
              </a:rPr>
              <a:t>Click to edit sub-heading</a:t>
            </a:r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CCAB6025-8B04-6F5D-9895-57BB47341D03}"/>
              </a:ext>
            </a:extLst>
          </p:cNvPr>
          <p:cNvGrpSpPr/>
          <p:nvPr userDrawn="1"/>
        </p:nvGrpSpPr>
        <p:grpSpPr>
          <a:xfrm>
            <a:off x="685805" y="6349173"/>
            <a:ext cx="11391906" cy="258441"/>
            <a:chOff x="0" y="0"/>
            <a:chExt cx="22783812" cy="516878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998389B4-A687-9FFC-4323-F3C40E5BC068}"/>
                </a:ext>
              </a:extLst>
            </p:cNvPr>
            <p:cNvSpPr/>
            <p:nvPr/>
          </p:nvSpPr>
          <p:spPr>
            <a:xfrm>
              <a:off x="0" y="0"/>
              <a:ext cx="2862710" cy="516878"/>
            </a:xfrm>
            <a:custGeom>
              <a:avLst/>
              <a:gdLst/>
              <a:ahLst/>
              <a:cxnLst/>
              <a:rect l="l" t="t" r="r" b="b"/>
              <a:pathLst>
                <a:path w="2862709" h="516878">
                  <a:moveTo>
                    <a:pt x="0" y="0"/>
                  </a:moveTo>
                  <a:lnTo>
                    <a:pt x="2862709" y="0"/>
                  </a:lnTo>
                  <a:lnTo>
                    <a:pt x="2862709" y="516878"/>
                  </a:lnTo>
                  <a:lnTo>
                    <a:pt x="0" y="516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NZ" sz="601"/>
            </a:p>
          </p:txBody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4C23B590-F4DE-6524-E7F3-0424C6974C23}"/>
                </a:ext>
              </a:extLst>
            </p:cNvPr>
            <p:cNvSpPr txBox="1"/>
            <p:nvPr/>
          </p:nvSpPr>
          <p:spPr>
            <a:xfrm>
              <a:off x="3032510" y="57680"/>
              <a:ext cx="19751302" cy="401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</a:pPr>
              <a:r>
                <a:rPr lang="en-US" sz="1400">
                  <a:solidFill>
                    <a:srgbClr val="000000"/>
                  </a:solidFill>
                  <a:latin typeface="Verdana Pro"/>
                </a:rPr>
                <a:t>Home / Research software and computing / Advanced compute… / </a:t>
              </a:r>
              <a:r>
                <a:rPr lang="en-US" sz="1400" b="1">
                  <a:solidFill>
                    <a:schemeClr val="accent2"/>
                  </a:solidFill>
                  <a:latin typeface="Verdana Pro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Large scale visualisation facility</a:t>
              </a:r>
              <a:endParaRPr lang="en-US" sz="1400" b="1">
                <a:solidFill>
                  <a:schemeClr val="accent2"/>
                </a:solidFill>
                <a:latin typeface="Verdana Pro"/>
                <a:hlinkClick r:id="rId4" tooltip="https://research-hub.auckland.ac.nz/research-software-and-computing/advanced-compu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621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M Policy with ResearchH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95E6-B310-A9B4-F9CD-0050641F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8455A-34F4-68F3-E056-6969E68A3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400" y="6248150"/>
            <a:ext cx="1765515" cy="33868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533CE6-9BE8-E53D-AF55-BE93A4345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0400" y="1512000"/>
            <a:ext cx="10998000" cy="1319176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08000" tIns="108000" rIns="108000" bIns="108000">
            <a:norm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Researchers are responsible for: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980FFE-178F-1EDA-21D2-EB44747EFE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47367" y="6273952"/>
            <a:ext cx="8933434" cy="28707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Home / SUBHUB / Link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380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M Content with ResearchH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95E6-B310-A9B4-F9CD-0050641F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8455A-34F4-68F3-E056-6969E68A3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8400" y="6248150"/>
            <a:ext cx="1765515" cy="338684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980FFE-178F-1EDA-21D2-EB44747EFE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47367" y="6273952"/>
            <a:ext cx="8933434" cy="28707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Home / SUBHUB / Link</a:t>
            </a:r>
            <a:endParaRPr lang="en-NZ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7375A0C-EBC3-4BED-9CDA-88CFDB2F60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8400" y="1836000"/>
            <a:ext cx="10782000" cy="1319176"/>
          </a:xfrm>
          <a:noFill/>
        </p:spPr>
        <p:txBody>
          <a:bodyPr lIns="108000" tIns="108000" rIns="108000" bIns="108000"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  <a:defRPr sz="2000" b="0"/>
            </a:lvl1pPr>
          </a:lstStyle>
          <a:p>
            <a:pPr lvl="0"/>
            <a:r>
              <a:rPr lang="en-US"/>
              <a:t>Text to be overwritten</a:t>
            </a:r>
          </a:p>
        </p:txBody>
      </p:sp>
    </p:spTree>
    <p:extLst>
      <p:ext uri="{BB962C8B-B14F-4D97-AF65-F5344CB8AC3E}">
        <p14:creationId xmlns:p14="http://schemas.microsoft.com/office/powerpoint/2010/main" val="212992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l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95E6-B310-A9B4-F9CD-0050641F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533CE6-9BE8-E53D-AF55-BE93A4345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8400" y="1836000"/>
            <a:ext cx="10782000" cy="1319176"/>
          </a:xfrm>
          <a:noFill/>
        </p:spPr>
        <p:txBody>
          <a:bodyPr lIns="108000" tIns="108000" rIns="108000" bIns="108000"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  <a:defRPr sz="2000" b="0"/>
            </a:lvl1pPr>
          </a:lstStyle>
          <a:p>
            <a:pPr lvl="0"/>
            <a:r>
              <a:rPr lang="en-US"/>
              <a:t>Text to be overwritten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980FFE-178F-1EDA-21D2-EB44747EFE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3183" y="6273952"/>
            <a:ext cx="10357618" cy="28707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Link</a:t>
            </a:r>
            <a:endParaRPr lang="en-NZ"/>
          </a:p>
        </p:txBody>
      </p:sp>
      <p:pic>
        <p:nvPicPr>
          <p:cNvPr id="3" name="Graphic 2" descr="Link with solid fill">
            <a:extLst>
              <a:ext uri="{FF2B5EF4-FFF2-40B4-BE49-F238E27FC236}">
                <a16:creationId xmlns:a16="http://schemas.microsoft.com/office/drawing/2014/main" id="{09BC461C-8D62-2E04-863B-F808B02C2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3583" y="611269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6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 l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95E6-B310-A9B4-F9CD-0050641F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533CE6-9BE8-E53D-AF55-BE93A4345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8400" y="1836000"/>
            <a:ext cx="10782000" cy="1319176"/>
          </a:xfrm>
          <a:noFill/>
        </p:spPr>
        <p:txBody>
          <a:bodyPr lIns="108000" tIns="108000" rIns="108000" bIns="108000"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  <a:defRPr sz="2000" b="0"/>
            </a:lvl1pPr>
          </a:lstStyle>
          <a:p>
            <a:pPr lvl="0"/>
            <a:r>
              <a:rPr lang="en-US"/>
              <a:t>Text to be overwritten</a:t>
            </a:r>
          </a:p>
        </p:txBody>
      </p:sp>
    </p:spTree>
    <p:extLst>
      <p:ext uri="{BB962C8B-B14F-4D97-AF65-F5344CB8AC3E}">
        <p14:creationId xmlns:p14="http://schemas.microsoft.com/office/powerpoint/2010/main" val="290510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400" y="1449917"/>
            <a:ext cx="5112000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602" y="1954742"/>
            <a:ext cx="5112000" cy="458937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0400" y="1449917"/>
            <a:ext cx="5112000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0398" y="1954742"/>
            <a:ext cx="5112000" cy="458937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46315" y="6417241"/>
            <a:ext cx="1422400" cy="24341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8E1D8A1-A208-FC33-F88D-E6C49866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4604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88846" y="6406609"/>
            <a:ext cx="1422400" cy="243417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29E943-BDAB-11C2-8F0C-9351141D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42208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15600" y="496667"/>
            <a:ext cx="113608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50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742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30DAC88B-067D-628F-8284-43B7EBF2885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NZ" sz="601">
              <a:solidFill>
                <a:schemeClr val="bg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284072F-A241-D2D8-7E7B-D59C3046A2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583672"/>
            <a:ext cx="8023859" cy="914400"/>
          </a:xfrm>
        </p:spPr>
        <p:txBody>
          <a:bodyPr>
            <a:noAutofit/>
          </a:bodyPr>
          <a:lstStyle>
            <a:lvl1pPr marL="0" indent="0">
              <a:buNone/>
              <a:defRPr sz="5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NZ" sz="5600"/>
              <a:t>Questions?</a:t>
            </a:r>
            <a:endParaRPr lang="en-NZ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ABE247E-513C-99B3-60A4-ABFDE6822B9C}"/>
              </a:ext>
            </a:extLst>
          </p:cNvPr>
          <p:cNvSpPr/>
          <p:nvPr userDrawn="1"/>
        </p:nvSpPr>
        <p:spPr>
          <a:xfrm>
            <a:off x="685805" y="685802"/>
            <a:ext cx="2375124" cy="845903"/>
          </a:xfrm>
          <a:custGeom>
            <a:avLst/>
            <a:gdLst/>
            <a:ahLst/>
            <a:cxnLst/>
            <a:rect l="l" t="t" r="r" b="b"/>
            <a:pathLst>
              <a:path w="3562685" h="1268853">
                <a:moveTo>
                  <a:pt x="0" y="0"/>
                </a:moveTo>
                <a:lnTo>
                  <a:pt x="3562685" y="0"/>
                </a:lnTo>
                <a:lnTo>
                  <a:pt x="3562685" y="1268853"/>
                </a:lnTo>
                <a:lnTo>
                  <a:pt x="0" y="1268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NZ" sz="601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DA296F6-7684-962A-A0AF-FCD13FBCE0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568072"/>
            <a:ext cx="10820403" cy="377850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None/>
              <a:defRPr sz="2500" b="1">
                <a:solidFill>
                  <a:schemeClr val="bg1"/>
                </a:solidFill>
                <a:latin typeface="+mn-lt"/>
              </a:defRPr>
            </a:lvl1pPr>
            <a:lvl2pPr marL="304815" indent="0">
              <a:buNone/>
              <a:defRPr sz="2330">
                <a:latin typeface="+mn-lt"/>
              </a:defRPr>
            </a:lvl2pPr>
            <a:lvl3pPr marL="609630" indent="0">
              <a:buNone/>
              <a:defRPr sz="2330">
                <a:latin typeface="+mn-lt"/>
              </a:defRPr>
            </a:lvl3pPr>
            <a:lvl4pPr marL="914445" indent="0">
              <a:buNone/>
              <a:defRPr sz="2330">
                <a:latin typeface="+mn-lt"/>
              </a:defRPr>
            </a:lvl4pPr>
            <a:lvl5pPr marL="1219261" indent="0">
              <a:buNone/>
              <a:defRPr sz="2330">
                <a:latin typeface="+mn-lt"/>
              </a:defRPr>
            </a:lvl5pPr>
          </a:lstStyle>
          <a:p>
            <a:pPr lvl="0"/>
            <a:r>
              <a:rPr lang="en-US"/>
              <a:t>Thank you</a:t>
            </a:r>
            <a:endParaRPr lang="en-NZ"/>
          </a:p>
        </p:txBody>
      </p:sp>
      <p:sp>
        <p:nvSpPr>
          <p:cNvPr id="11" name="SmartArt Placeholder 20">
            <a:extLst>
              <a:ext uri="{FF2B5EF4-FFF2-40B4-BE49-F238E27FC236}">
                <a16:creationId xmlns:a16="http://schemas.microsoft.com/office/drawing/2014/main" id="{7B271053-DBA0-CFA0-6E38-5E82BE245146}"/>
              </a:ext>
            </a:extLst>
          </p:cNvPr>
          <p:cNvSpPr>
            <a:spLocks noGrp="1"/>
          </p:cNvSpPr>
          <p:nvPr>
            <p:ph type="dgm" sz="quarter" idx="13" hasCustomPrompt="1"/>
          </p:nvPr>
        </p:nvSpPr>
        <p:spPr>
          <a:xfrm>
            <a:off x="3" y="6408682"/>
            <a:ext cx="12191997" cy="449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/>
            </a:lvl1pPr>
          </a:lstStyle>
          <a:p>
            <a:r>
              <a:rPr lang="en-NZ"/>
              <a:t>Change this colour or delete text</a:t>
            </a:r>
          </a:p>
        </p:txBody>
      </p:sp>
    </p:spTree>
    <p:extLst>
      <p:ext uri="{BB962C8B-B14F-4D97-AF65-F5344CB8AC3E}">
        <p14:creationId xmlns:p14="http://schemas.microsoft.com/office/powerpoint/2010/main" val="2430106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6096000" y="233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54000" y="1438333"/>
            <a:ext cx="53936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54000" y="38952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25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6532733" y="891067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79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24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21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 1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C34B7B-652D-7402-1034-B84FABF6D6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68244" y="2709081"/>
            <a:ext cx="5780549" cy="11713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sz="40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2pPr>
            <a:lvl3pPr>
              <a:defRPr sz="40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3pPr>
            <a:lvl4pPr>
              <a:defRPr sz="40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4pPr>
            <a:lvl5pPr>
              <a:defRPr sz="4000" b="1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add the title of your presentation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97BFC61-B497-4561-25FD-E7134BCFF6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8244" y="3994956"/>
            <a:ext cx="5753100" cy="741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>
              <a:defRPr sz="20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2pPr>
            <a:lvl3pPr>
              <a:defRPr sz="20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3pPr>
            <a:lvl4pPr>
              <a:defRPr sz="20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4pPr>
            <a:lvl5pPr>
              <a:defRPr sz="20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add your subheading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59AC8B7-376B-A542-1788-87DD171D0D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8244" y="5776354"/>
            <a:ext cx="1875007" cy="20306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02288741-9385-A1B3-21DB-6A2D7E5DE5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0813" y="5780933"/>
            <a:ext cx="2790571" cy="203069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41618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E0EED6B-D82B-5615-D27A-76C19F68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00" y="532800"/>
            <a:ext cx="10782400" cy="88455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0D16FDE-1665-B79B-13FE-ECDA6179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400" y="1825625"/>
            <a:ext cx="107824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BA029F-6234-3F9C-D147-CE8EEA485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1160" y="63576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8244F-19E5-44BA-8F10-C40931FCEF0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1579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83" r:id="rId4"/>
    <p:sldLayoutId id="2147483684" r:id="rId5"/>
    <p:sldLayoutId id="2147483688" r:id="rId6"/>
    <p:sldLayoutId id="2147483686" r:id="rId7"/>
    <p:sldLayoutId id="2147483687" r:id="rId8"/>
    <p:sldLayoutId id="2147483677" r:id="rId9"/>
    <p:sldLayoutId id="2147483678" r:id="rId10"/>
    <p:sldLayoutId id="2147483693" r:id="rId11"/>
    <p:sldLayoutId id="2147483679" r:id="rId12"/>
    <p:sldLayoutId id="2147483682" r:id="rId13"/>
    <p:sldLayoutId id="2147483694" r:id="rId14"/>
    <p:sldLayoutId id="2147483718" r:id="rId15"/>
    <p:sldLayoutId id="2147483719" r:id="rId16"/>
    <p:sldLayoutId id="2147483720" r:id="rId17"/>
  </p:sldLayoutIdLst>
  <p:txStyles>
    <p:titleStyle>
      <a:lvl1pPr algn="l" defTabSz="609630" rtl="0" eaLnBrk="1" latinLnBrk="0" hangingPunct="1"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accent4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accent4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accent4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accent4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research-hub.auckland.ac.nz/research-software-and-computing/ai-in-researc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C560BA-6153-A75B-0D83-CA09379C5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9632" y="2638742"/>
            <a:ext cx="10574677" cy="173678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</a:t>
            </a:r>
            <a:r>
              <a:rPr lang="en-US" sz="480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Curate Research Data</a:t>
            </a:r>
            <a:endParaRPr 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80D8F-F73D-A1C9-68D7-2A1E7ED1AC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7734" y="5448594"/>
            <a:ext cx="2383038" cy="556085"/>
          </a:xfrm>
        </p:spPr>
        <p:txBody>
          <a:bodyPr>
            <a:normAutofit/>
          </a:bodyPr>
          <a:lstStyle/>
          <a:p>
            <a:r>
              <a:rPr lang="en-AU" sz="1600" b="1" dirty="0"/>
              <a:t>30 June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81B6AE-5D0D-5B29-8188-5E10A22945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8432" y="5448277"/>
            <a:ext cx="4797416" cy="556086"/>
          </a:xfrm>
        </p:spPr>
        <p:txBody>
          <a:bodyPr>
            <a:normAutofit/>
          </a:bodyPr>
          <a:lstStyle/>
          <a:p>
            <a:r>
              <a:rPr lang="en-NZ" sz="1600" b="1"/>
              <a:t>Centre for eResearch</a:t>
            </a:r>
            <a:endParaRPr lang="en-NZ" sz="1600" b="1">
              <a:ea typeface="Verdana"/>
            </a:endParaRPr>
          </a:p>
        </p:txBody>
      </p:sp>
      <p:pic>
        <p:nvPicPr>
          <p:cNvPr id="3" name="Google Shape;270;p61" title="Copyright symbol CC-BY">
            <a:extLst>
              <a:ext uri="{FF2B5EF4-FFF2-40B4-BE49-F238E27FC236}">
                <a16:creationId xmlns:a16="http://schemas.microsoft.com/office/drawing/2014/main" id="{CDD65955-AE34-290D-B00D-657A63A7B0E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30106" y="5886214"/>
            <a:ext cx="876967" cy="3069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615177B-2491-1F4A-7F91-E11148CB5802}"/>
              </a:ext>
            </a:extLst>
          </p:cNvPr>
          <p:cNvSpPr txBox="1">
            <a:spLocks/>
          </p:cNvSpPr>
          <p:nvPr/>
        </p:nvSpPr>
        <p:spPr>
          <a:xfrm>
            <a:off x="1049632" y="4413504"/>
            <a:ext cx="5046368" cy="99710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NZ" sz="2800" b="1" dirty="0"/>
              <a:t>Dr Kyle Hemming</a:t>
            </a:r>
          </a:p>
        </p:txBody>
      </p:sp>
    </p:spTree>
    <p:extLst>
      <p:ext uri="{BB962C8B-B14F-4D97-AF65-F5344CB8AC3E}">
        <p14:creationId xmlns:p14="http://schemas.microsoft.com/office/powerpoint/2010/main" val="112474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7DC0-8804-E979-CF17-9D4E3535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6B03-2212-8645-ACE5-2972C321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00" y="532800"/>
            <a:ext cx="10782400" cy="88455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NZ" sz="3400" dirty="0"/>
              <a:t>Today’s plan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00CF7F5-0E06-8BB5-B07B-53D2867631FC}"/>
              </a:ext>
            </a:extLst>
          </p:cNvPr>
          <p:cNvSpPr/>
          <p:nvPr/>
        </p:nvSpPr>
        <p:spPr>
          <a:xfrm>
            <a:off x="392744" y="2262554"/>
            <a:ext cx="2509059" cy="4283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AU" b="1" dirty="0">
              <a:solidFill>
                <a:schemeClr val="bg1"/>
              </a:solidFill>
            </a:endParaRPr>
          </a:p>
          <a:p>
            <a:pPr algn="ctr"/>
            <a:endParaRPr lang="en-AU" b="1" dirty="0">
              <a:solidFill>
                <a:schemeClr val="bg1"/>
              </a:solidFill>
            </a:endParaRPr>
          </a:p>
          <a:p>
            <a:pPr algn="ctr"/>
            <a:r>
              <a:rPr lang="en-AU" b="1" dirty="0"/>
              <a:t>Intro + framing</a:t>
            </a:r>
          </a:p>
          <a:p>
            <a:pPr algn="ctr"/>
            <a:endParaRPr lang="en-AU" b="1" dirty="0">
              <a:solidFill>
                <a:schemeClr val="bg1"/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AU" sz="2400" b="1" dirty="0">
                <a:solidFill>
                  <a:schemeClr val="accent6">
                    <a:lumMod val="25000"/>
                  </a:schemeClr>
                </a:solidFill>
              </a:rPr>
              <a:t>15 min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E9EA3EC-C690-1CAD-540E-FF4B7279E417}"/>
              </a:ext>
            </a:extLst>
          </p:cNvPr>
          <p:cNvSpPr/>
          <p:nvPr/>
        </p:nvSpPr>
        <p:spPr>
          <a:xfrm>
            <a:off x="3328874" y="2262554"/>
            <a:ext cx="2509059" cy="4283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b="1" dirty="0">
              <a:solidFill>
                <a:srgbClr val="FFFFFF"/>
              </a:solidFill>
              <a:latin typeface="Verdan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</a:rPr>
              <a:t>Block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>
                <a:latin typeface="Verdana"/>
              </a:rPr>
              <a:t>Data Cleaning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75000"/>
                </a:srgb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25000"/>
                  </a:scheme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30 min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AFBF1D7-7D03-9D06-FE0D-450DE0D34651}"/>
              </a:ext>
            </a:extLst>
          </p:cNvPr>
          <p:cNvSpPr/>
          <p:nvPr/>
        </p:nvSpPr>
        <p:spPr>
          <a:xfrm>
            <a:off x="6265004" y="2262554"/>
            <a:ext cx="2509059" cy="4283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lvl="0" algn="ctr">
              <a:defRPr/>
            </a:pPr>
            <a:endParaRPr lang="en-AU" b="1" dirty="0">
              <a:solidFill>
                <a:srgbClr val="FFFFFF"/>
              </a:solidFill>
            </a:endParaRPr>
          </a:p>
          <a:p>
            <a:pPr lvl="0" algn="ctr">
              <a:defRPr/>
            </a:pPr>
            <a:endParaRPr lang="en-AU" b="1" dirty="0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AU" b="1" dirty="0"/>
              <a:t>Block 2</a:t>
            </a:r>
          </a:p>
          <a:p>
            <a:pPr lvl="0" algn="ctr">
              <a:defRPr/>
            </a:pPr>
            <a:r>
              <a:rPr lang="en-AU" b="1" dirty="0"/>
              <a:t>Data transformation </a:t>
            </a:r>
            <a:r>
              <a:rPr lang="en-AU" dirty="0"/>
              <a:t>(feature extraction)</a:t>
            </a:r>
          </a:p>
          <a:p>
            <a:pPr lvl="0" algn="ctr">
              <a:defRPr/>
            </a:pPr>
            <a:endParaRPr lang="en-AU" b="1" dirty="0">
              <a:solidFill>
                <a:srgbClr val="F2F2F2">
                  <a:lumMod val="75000"/>
                </a:srgbClr>
              </a:solidFill>
            </a:endParaRPr>
          </a:p>
          <a:p>
            <a:pPr lvl="0" algn="ctr">
              <a:defRPr/>
            </a:pPr>
            <a:endParaRPr lang="en-AU" b="1" dirty="0">
              <a:solidFill>
                <a:srgbClr val="F2F2F2">
                  <a:lumMod val="75000"/>
                </a:srgbClr>
              </a:solidFill>
            </a:endParaRPr>
          </a:p>
          <a:p>
            <a:pPr lvl="0" algn="ctr">
              <a:defRPr/>
            </a:pPr>
            <a:r>
              <a:rPr lang="en-AU" sz="2400" b="1" dirty="0">
                <a:solidFill>
                  <a:schemeClr val="accent6">
                    <a:lumMod val="25000"/>
                  </a:schemeClr>
                </a:solidFill>
              </a:rPr>
              <a:t>40 min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9D6EF850-0A85-875E-18B8-D2C7B094FA1B}"/>
              </a:ext>
            </a:extLst>
          </p:cNvPr>
          <p:cNvSpPr/>
          <p:nvPr/>
        </p:nvSpPr>
        <p:spPr>
          <a:xfrm>
            <a:off x="9201134" y="2262554"/>
            <a:ext cx="2509059" cy="42837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AU" b="1" dirty="0">
              <a:solidFill>
                <a:schemeClr val="bg1"/>
              </a:solidFill>
            </a:endParaRPr>
          </a:p>
          <a:p>
            <a:pPr algn="ctr"/>
            <a:endParaRPr lang="en-AU" b="1" dirty="0">
              <a:solidFill>
                <a:schemeClr val="bg1"/>
              </a:solidFill>
            </a:endParaRPr>
          </a:p>
          <a:p>
            <a:pPr algn="ctr"/>
            <a:r>
              <a:rPr lang="en-AU" b="1" dirty="0">
                <a:solidFill>
                  <a:schemeClr val="bg1"/>
                </a:solidFill>
              </a:rPr>
              <a:t>Wrap up</a:t>
            </a:r>
          </a:p>
          <a:p>
            <a:pPr algn="ctr"/>
            <a:endParaRPr lang="en-AU" b="1" dirty="0">
              <a:solidFill>
                <a:schemeClr val="bg1"/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AU" sz="2400" b="1" dirty="0">
                <a:solidFill>
                  <a:schemeClr val="bg1">
                    <a:lumMod val="85000"/>
                  </a:schemeClr>
                </a:solidFill>
              </a:rPr>
              <a:t>20 min</a:t>
            </a:r>
          </a:p>
        </p:txBody>
      </p:sp>
    </p:spTree>
    <p:extLst>
      <p:ext uri="{BB962C8B-B14F-4D97-AF65-F5344CB8AC3E}">
        <p14:creationId xmlns:p14="http://schemas.microsoft.com/office/powerpoint/2010/main" val="95302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7DC0-8804-E979-CF17-9D4E3535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6B03-2212-8645-ACE5-2972C321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00" y="532800"/>
            <a:ext cx="10782400" cy="88455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NZ" sz="3400"/>
              <a:t>Generative artificial intelligence (GenAI)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EE791-C726-9D3A-D1F6-BE4680A0DF24}"/>
              </a:ext>
            </a:extLst>
          </p:cNvPr>
          <p:cNvSpPr txBox="1"/>
          <p:nvPr/>
        </p:nvSpPr>
        <p:spPr>
          <a:xfrm>
            <a:off x="698400" y="1825625"/>
            <a:ext cx="4985708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133" kern="1200">
                <a:solidFill>
                  <a:schemeClr val="accent4"/>
                </a:solidFill>
                <a:effectLst/>
              </a:rPr>
              <a:t>AI mimics human intelligence</a:t>
            </a:r>
            <a:endParaRPr lang="en-US" sz="2133" kern="1200">
              <a:solidFill>
                <a:schemeClr val="accent4"/>
              </a:solidFill>
            </a:endParaRPr>
          </a:p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endParaRPr lang="en-US" sz="2133" kern="1200">
              <a:solidFill>
                <a:schemeClr val="accent4"/>
              </a:solidFill>
            </a:endParaRPr>
          </a:p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133" kern="1200">
                <a:solidFill>
                  <a:schemeClr val="accent4"/>
                </a:solidFill>
              </a:rPr>
              <a:t>Figures out complex patterns, makes decisions</a:t>
            </a:r>
            <a:endParaRPr lang="en-US" sz="2133" kern="1200">
              <a:solidFill>
                <a:schemeClr val="accent4"/>
              </a:solidFill>
              <a:effectLst/>
            </a:endParaRPr>
          </a:p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endParaRPr lang="en-US" sz="2133" kern="1200">
              <a:solidFill>
                <a:schemeClr val="accent4"/>
              </a:solidFill>
              <a:effectLst/>
            </a:endParaRPr>
          </a:p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133" kern="1200">
                <a:solidFill>
                  <a:schemeClr val="accent4"/>
                </a:solidFill>
                <a:effectLst/>
              </a:rPr>
              <a:t>GenAI = new, language-based answers</a:t>
            </a:r>
          </a:p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endParaRPr lang="en-US" sz="2133" kern="1200">
              <a:solidFill>
                <a:schemeClr val="accent4"/>
              </a:solidFill>
              <a:effectLst/>
            </a:endParaRPr>
          </a:p>
          <a:p>
            <a:pPr marL="228611" marR="0" indent="-228611" defTabSz="60963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133" kern="1200">
                <a:solidFill>
                  <a:schemeClr val="accent4"/>
                </a:solidFill>
                <a:effectLst/>
              </a:rPr>
              <a:t>Uses large language models (LLMs)</a:t>
            </a:r>
          </a:p>
        </p:txBody>
      </p:sp>
      <p:pic>
        <p:nvPicPr>
          <p:cNvPr id="5" name="Picture 4" descr="A painting of a person sitting in a car&#10;&#10;AI-generated content may be incorrect.">
            <a:extLst>
              <a:ext uri="{FF2B5EF4-FFF2-40B4-BE49-F238E27FC236}">
                <a16:creationId xmlns:a16="http://schemas.microsoft.com/office/drawing/2014/main" id="{49E61D79-0C4E-597A-0B49-94F9393BC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27" y="1470568"/>
            <a:ext cx="4465054" cy="506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8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50A2-B611-AD90-AFC4-2239F195E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6F5A-ACA9-E2E6-C9DC-ED5D23DE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00" y="532800"/>
            <a:ext cx="10782400" cy="88455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NZ" sz="3400" dirty="0"/>
              <a:t>Data prep is a marathon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8FC7321-3D99-F831-D97F-AA9B1EC5B664}"/>
              </a:ext>
            </a:extLst>
          </p:cNvPr>
          <p:cNvSpPr/>
          <p:nvPr/>
        </p:nvSpPr>
        <p:spPr>
          <a:xfrm>
            <a:off x="457200" y="1463040"/>
            <a:ext cx="4654062" cy="41346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Effort + time in </a:t>
            </a:r>
            <a:r>
              <a:rPr lang="en-US" sz="28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2800" i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the finish line.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 is before it.</a:t>
            </a:r>
            <a:endParaRPr lang="en-US" sz="28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D7A6A721-DFBE-1A2C-C00C-04553F7B2BA5}"/>
              </a:ext>
            </a:extLst>
          </p:cNvPr>
          <p:cNvSpPr/>
          <p:nvPr/>
        </p:nvSpPr>
        <p:spPr>
          <a:xfrm>
            <a:off x="5373857" y="1463040"/>
            <a:ext cx="129563" cy="16658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522889E-D57A-22FB-E7C0-F8AA7F22BA7F}"/>
              </a:ext>
            </a:extLst>
          </p:cNvPr>
          <p:cNvSpPr/>
          <p:nvPr/>
        </p:nvSpPr>
        <p:spPr>
          <a:xfrm>
            <a:off x="5602457" y="1371600"/>
            <a:ext cx="6755809" cy="851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almost never analysis-ready</a:t>
            </a:r>
            <a:endParaRPr lang="en-US" sz="2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87BF63E-7DC0-BA07-EEE5-0B8B343C49BF}"/>
              </a:ext>
            </a:extLst>
          </p:cNvPr>
          <p:cNvSpPr/>
          <p:nvPr/>
        </p:nvSpPr>
        <p:spPr>
          <a:xfrm>
            <a:off x="5602458" y="1651326"/>
            <a:ext cx="6755806" cy="1295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typos, inconsistent formats, free text, missing values</a:t>
            </a:r>
            <a:endParaRPr lang="en-US" sz="20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0F17872-5A02-A90B-54A1-03B91EF2C8B6}"/>
              </a:ext>
            </a:extLst>
          </p:cNvPr>
          <p:cNvSpPr/>
          <p:nvPr/>
        </p:nvSpPr>
        <p:spPr>
          <a:xfrm>
            <a:off x="5373857" y="2697480"/>
            <a:ext cx="129563" cy="16658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D67B2C4-78EA-BC5D-A409-3ED80223E638}"/>
              </a:ext>
            </a:extLst>
          </p:cNvPr>
          <p:cNvSpPr/>
          <p:nvPr/>
        </p:nvSpPr>
        <p:spPr>
          <a:xfrm>
            <a:off x="5602455" y="2681647"/>
            <a:ext cx="6755809" cy="851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cleaning is slow and hard to audit</a:t>
            </a:r>
            <a:endParaRPr lang="en-US" sz="2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BC9A45-E16F-0855-B602-D3CCCED89BD5}"/>
              </a:ext>
            </a:extLst>
          </p:cNvPr>
          <p:cNvSpPr/>
          <p:nvPr/>
        </p:nvSpPr>
        <p:spPr>
          <a:xfrm>
            <a:off x="5602455" y="2946960"/>
            <a:ext cx="6755806" cy="1295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don't appear in Methods &amp; take the most time</a:t>
            </a:r>
            <a:endParaRPr lang="en-US" sz="2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29DF111-FA98-B6B4-AAC3-CF6939B29D5A}"/>
              </a:ext>
            </a:extLst>
          </p:cNvPr>
          <p:cNvSpPr/>
          <p:nvPr/>
        </p:nvSpPr>
        <p:spPr>
          <a:xfrm>
            <a:off x="5373857" y="3931920"/>
            <a:ext cx="129563" cy="166581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996BE22-34D7-D307-2C37-54FB87A79C52}"/>
              </a:ext>
            </a:extLst>
          </p:cNvPr>
          <p:cNvSpPr/>
          <p:nvPr/>
        </p:nvSpPr>
        <p:spPr>
          <a:xfrm>
            <a:off x="5602452" y="4082198"/>
            <a:ext cx="6755809" cy="8514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changes pace, not problem</a:t>
            </a:r>
            <a:endParaRPr lang="en-US" sz="2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4655678-DEBF-9021-FAFF-60D2FF572FE2}"/>
              </a:ext>
            </a:extLst>
          </p:cNvPr>
          <p:cNvSpPr/>
          <p:nvPr/>
        </p:nvSpPr>
        <p:spPr>
          <a:xfrm>
            <a:off x="5602452" y="4302101"/>
            <a:ext cx="6755806" cy="1295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about speeding up that process, reliably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291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4A7E-5A80-86B4-FA23-9C7D7BDDA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03BF-47B5-EA14-B331-F3E3178D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00" y="532800"/>
            <a:ext cx="10782400" cy="88455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NZ" sz="3400" dirty="0"/>
              <a:t>Set up checklist (5 min)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BF7946B-6928-5D6B-4958-75C41C5A9D58}"/>
              </a:ext>
            </a:extLst>
          </p:cNvPr>
          <p:cNvSpPr/>
          <p:nvPr/>
        </p:nvSpPr>
        <p:spPr>
          <a:xfrm>
            <a:off x="584399" y="114886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— setup checklist (5 min)</a:t>
            </a:r>
            <a:endParaRPr lang="en-US" sz="2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2CECC19-FB5B-84EA-2608-3C9A0F46F556}"/>
              </a:ext>
            </a:extLst>
          </p:cNvPr>
          <p:cNvSpPr/>
          <p:nvPr/>
        </p:nvSpPr>
        <p:spPr>
          <a:xfrm>
            <a:off x="371628" y="1817198"/>
            <a:ext cx="752032" cy="7520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2FD0897-CFA6-383A-582F-7447B16BD002}"/>
              </a:ext>
            </a:extLst>
          </p:cNvPr>
          <p:cNvSpPr/>
          <p:nvPr/>
        </p:nvSpPr>
        <p:spPr>
          <a:xfrm>
            <a:off x="361660" y="176151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CAA03D4-D067-1E37-B7C5-95E050F77F82}"/>
              </a:ext>
            </a:extLst>
          </p:cNvPr>
          <p:cNvSpPr/>
          <p:nvPr/>
        </p:nvSpPr>
        <p:spPr>
          <a:xfrm>
            <a:off x="1202908" y="1596918"/>
            <a:ext cx="1627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workshop folder</a:t>
            </a:r>
            <a:endParaRPr lang="en-US" sz="2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3ED46EC-203B-0D0C-9A4C-EBF29C6169B1}"/>
              </a:ext>
            </a:extLst>
          </p:cNvPr>
          <p:cNvSpPr/>
          <p:nvPr/>
        </p:nvSpPr>
        <p:spPr>
          <a:xfrm>
            <a:off x="1202908" y="2102418"/>
            <a:ext cx="162763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exactly:  data curation workshop resources 30 June 2026</a:t>
            </a:r>
            <a:endParaRPr 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DC4C36D-3DA0-3A87-591F-8724A28776FF}"/>
              </a:ext>
            </a:extLst>
          </p:cNvPr>
          <p:cNvSpPr/>
          <p:nvPr/>
        </p:nvSpPr>
        <p:spPr>
          <a:xfrm>
            <a:off x="371628" y="2652698"/>
            <a:ext cx="752032" cy="7520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1263696-64B2-E79C-DB59-71C938D36768}"/>
              </a:ext>
            </a:extLst>
          </p:cNvPr>
          <p:cNvSpPr/>
          <p:nvPr/>
        </p:nvSpPr>
        <p:spPr>
          <a:xfrm>
            <a:off x="361660" y="258447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BC91F4C-DE92-56BC-93F2-BAC13F22D110}"/>
              </a:ext>
            </a:extLst>
          </p:cNvPr>
          <p:cNvSpPr/>
          <p:nvPr/>
        </p:nvSpPr>
        <p:spPr>
          <a:xfrm>
            <a:off x="1202908" y="2419878"/>
            <a:ext cx="1627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data</a:t>
            </a:r>
            <a:endParaRPr lang="en-US" sz="2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84A8264-B0A6-EDAD-70F8-0FE4BC6C4B02}"/>
              </a:ext>
            </a:extLst>
          </p:cNvPr>
          <p:cNvSpPr/>
          <p:nvPr/>
        </p:nvSpPr>
        <p:spPr>
          <a:xfrm>
            <a:off x="1202908" y="2917521"/>
            <a:ext cx="162763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plants_site_A.csv from the Zoom chat into your folder</a:t>
            </a:r>
            <a:endParaRPr lang="en-US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BD743EF-21BE-600D-A8BE-B22C4D1D27E8}"/>
              </a:ext>
            </a:extLst>
          </p:cNvPr>
          <p:cNvSpPr/>
          <p:nvPr/>
        </p:nvSpPr>
        <p:spPr>
          <a:xfrm>
            <a:off x="371628" y="3461182"/>
            <a:ext cx="752032" cy="7520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4059BCE-2618-CEE7-1B27-1E067EC68983}"/>
              </a:ext>
            </a:extLst>
          </p:cNvPr>
          <p:cNvSpPr/>
          <p:nvPr/>
        </p:nvSpPr>
        <p:spPr>
          <a:xfrm>
            <a:off x="361660" y="340743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0470813-70BC-096B-F736-0316AD481E18}"/>
              </a:ext>
            </a:extLst>
          </p:cNvPr>
          <p:cNvSpPr/>
          <p:nvPr/>
        </p:nvSpPr>
        <p:spPr>
          <a:xfrm>
            <a:off x="1202908" y="3312123"/>
            <a:ext cx="1627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working copy</a:t>
            </a:r>
            <a:endParaRPr lang="en-US" sz="2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14ADCFE-9EF3-033D-255A-63AE840914B2}"/>
              </a:ext>
            </a:extLst>
          </p:cNvPr>
          <p:cNvSpPr/>
          <p:nvPr/>
        </p:nvSpPr>
        <p:spPr>
          <a:xfrm>
            <a:off x="1202908" y="3800622"/>
            <a:ext cx="162763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CSV in Excel → Save As → plants_site_A_cleaned → save to folder, close the original</a:t>
            </a:r>
            <a:endParaRPr lang="en-US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191CE69-A334-EE9B-17B2-356CFA639DFA}"/>
              </a:ext>
            </a:extLst>
          </p:cNvPr>
          <p:cNvSpPr/>
          <p:nvPr/>
        </p:nvSpPr>
        <p:spPr>
          <a:xfrm>
            <a:off x="406268" y="4302430"/>
            <a:ext cx="752032" cy="7520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C0CED87-CEA6-8D25-5B00-E352D3778C49}"/>
              </a:ext>
            </a:extLst>
          </p:cNvPr>
          <p:cNvSpPr/>
          <p:nvPr/>
        </p:nvSpPr>
        <p:spPr>
          <a:xfrm>
            <a:off x="361660" y="423039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AB4573B-8C22-66FD-86A1-E5DF42CCBD68}"/>
              </a:ext>
            </a:extLst>
          </p:cNvPr>
          <p:cNvSpPr/>
          <p:nvPr/>
        </p:nvSpPr>
        <p:spPr>
          <a:xfrm>
            <a:off x="1202908" y="4055248"/>
            <a:ext cx="1627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</a:t>
            </a:r>
            <a:endParaRPr lang="en-US" sz="2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511E8D19-44E0-30B7-3144-1F6B9536A5A3}"/>
              </a:ext>
            </a:extLst>
          </p:cNvPr>
          <p:cNvSpPr/>
          <p:nvPr/>
        </p:nvSpPr>
        <p:spPr>
          <a:xfrm>
            <a:off x="1202908" y="4525578"/>
            <a:ext cx="162763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copilot.microsoft.com — log in with your university or personal Microsoft account</a:t>
            </a:r>
            <a:endParaRPr lang="en-US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34380B72-C58A-BD3D-26EF-D0AB61EDCC32}"/>
              </a:ext>
            </a:extLst>
          </p:cNvPr>
          <p:cNvSpPr/>
          <p:nvPr/>
        </p:nvSpPr>
        <p:spPr>
          <a:xfrm>
            <a:off x="361660" y="5150009"/>
            <a:ext cx="841248" cy="841248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D7D54"/>
            </a:solidFill>
            <a:prstDash val="solid"/>
          </a:ln>
        </p:spPr>
        <p:txBody>
          <a:bodyPr/>
          <a:lstStyle/>
          <a:p>
            <a:endParaRPr lang="en-AU" sz="320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4930117-B7FA-C9AD-3A6B-222A79224D8A}"/>
              </a:ext>
            </a:extLst>
          </p:cNvPr>
          <p:cNvSpPr/>
          <p:nvPr/>
        </p:nvSpPr>
        <p:spPr>
          <a:xfrm>
            <a:off x="371628" y="5136411"/>
            <a:ext cx="752032" cy="75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24216B7-E596-769E-14B3-03821C88125B}"/>
              </a:ext>
            </a:extLst>
          </p:cNvPr>
          <p:cNvSpPr/>
          <p:nvPr/>
        </p:nvSpPr>
        <p:spPr>
          <a:xfrm>
            <a:off x="1202908" y="4888758"/>
            <a:ext cx="1627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Word</a:t>
            </a:r>
            <a:endParaRPr lang="en-US" sz="20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CF406D84-D1A2-0D43-8655-055136DDF0F8}"/>
              </a:ext>
            </a:extLst>
          </p:cNvPr>
          <p:cNvSpPr/>
          <p:nvPr/>
        </p:nvSpPr>
        <p:spPr>
          <a:xfrm>
            <a:off x="1202908" y="5456624"/>
            <a:ext cx="162763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 → title: Prompt log — data curation workshop — 30 June 2026 → save to folder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1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D72C-9CEE-6333-4434-59FC9783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773447-1933-5999-450E-35F34D758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32FEB661-5E8C-F319-C470-71DC35069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38521310-5D78-2A0B-BA7D-D80A934D6427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00800FC-15E6-DC04-DE8A-2A751C6B9981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76F0CB-EE75-8A76-ACC5-58202CD0ED9E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4969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BA7E-5EEA-7F2E-7E46-6FC35C1D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C3B17D-4780-9584-8142-6E3E9AD53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0A60B766-AB2F-C9B5-155A-2F855E843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9B66712C-F234-8E46-CA3B-86CFD80048E5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BDD4486-1778-5D02-32E2-C1AFE08CB46D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6DCF91-44BB-42A0-A5CC-6C739477720E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6174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C7FC-6250-E54E-7F14-13696830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CAA8D6-84A8-A7A6-8161-7D6FEB838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85A27198-A5DE-7AEF-5180-5B09795A9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5B45597E-84A0-86E7-8F09-02D45B0F90AB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9BF12EE-4738-9327-0A54-E75970393AFB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8CEC59-B506-F513-F54D-929E086D7F9D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19944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754A-C32B-7C83-98D3-94B28A3C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532D44-F3F2-3147-2F9F-53FD8C65E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62A11A99-C41F-C0A2-4BC4-85EB1A0F5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0841025C-1B0A-7F62-176A-FA2B8614F002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192EFE-5421-8F2A-C670-1D4384C1C4EF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C46681-CD94-5D33-ACBE-A84A99FFC675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9741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051C-2335-74C1-155B-A7C39059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491EA9-34A6-489F-E953-5DC552AF5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F03742C2-3A33-A484-2E32-75D855E20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B736943A-159E-2C6A-317C-908F8F00A8CB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3EB0330-44CB-EBBA-4F2F-D7ED7BA7C65C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9CF112-F982-15AD-4D65-A95A3270B163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8452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30DF6-F444-1C15-F478-093DD217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201C6A-E42E-B043-936A-914A0297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5DF8509E-A1FF-B7CC-32AB-04E8030A2D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0F763212-DC4B-F653-AFE6-2DD21FB87B83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DF8000-2834-512B-C003-F9549E1CCF87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1D766D-4E47-F990-EE94-03A13DEBA9AA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4201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6D038-2C50-3854-90C4-00EDA954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3A522D-CA84-9CB4-9D05-C9B0B5D9B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2AEA71F9-7955-411E-13AB-511CC1F40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DC734A90-46EB-9531-2E6E-77E00C1671BD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5AC1F3D-E761-772E-600F-CA11151C8E14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DA81C5-5B20-ACAF-7346-5E8BA4B9D3F7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667654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E6D4-E123-91B7-A0FD-6C83BEDD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475679-C2BB-6567-9EEB-D1B4D2B58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F268C6DC-F417-5E5E-6968-968AFD787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9E30EB1D-89FF-4E38-9B9D-A5EFAA9CBC1A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13A00F0-628C-2CB5-0197-5B49B779C59E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312EA5-5FD9-3620-5F89-49C38A1BA62E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99269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18F0-8A11-CC9B-6E57-3CA71D80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94CE7-7245-61A8-361D-F9FCA6C94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97" y="120143"/>
            <a:ext cx="7772400" cy="6617714"/>
          </a:xfrm>
          <a:prstGeom prst="rect">
            <a:avLst/>
          </a:prstGeom>
          <a:ln>
            <a:noFill/>
          </a:ln>
          <a:effectLst>
            <a:outerShdw blurRad="292100" dist="3300" dir="4211460" sx="102000" sy="102000" algn="tl" rotWithShape="0">
              <a:srgbClr val="333333">
                <a:alpha val="56604"/>
              </a:srgbClr>
            </a:outerShdw>
          </a:effectLst>
        </p:spPr>
      </p:pic>
      <p:pic>
        <p:nvPicPr>
          <p:cNvPr id="15" name="Picture 14" descr="https://lh7-rt.googleusercontent.com/slidesz/AGV_vUdDn2kL4VJdoKeXpR-3FYkDPudbk8uwzVlpv0KilA4KiZ-shp2jndCsgoXlxyMWpX1XkU47A7Sa5Vs9aZCO8xpTuih0g_PIeWyYI0JChMFGc464uGtn9D_gDbvyKySWNZ4zu4O9Vw=s2048?key=Mbdlh7khl678-_bqPzUIMQ">
            <a:extLst>
              <a:ext uri="{FF2B5EF4-FFF2-40B4-BE49-F238E27FC236}">
                <a16:creationId xmlns:a16="http://schemas.microsoft.com/office/drawing/2014/main" id="{4FDC58AB-8E17-1D34-344C-2377C4C7CF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88000"/>
                    </a14:imgEffect>
                    <a14:imgEffect>
                      <a14:brightnessContrast bright="38000" contrast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469167" y="2152270"/>
            <a:ext cx="6855581" cy="2527324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B8C8EA67-20C5-D9CE-D02E-62F0BEEE8AC0}"/>
              </a:ext>
            </a:extLst>
          </p:cNvPr>
          <p:cNvSpPr/>
          <p:nvPr/>
        </p:nvSpPr>
        <p:spPr>
          <a:xfrm>
            <a:off x="685801" y="6281803"/>
            <a:ext cx="1431355" cy="258439"/>
          </a:xfrm>
          <a:custGeom>
            <a:avLst/>
            <a:gdLst/>
            <a:ahLst/>
            <a:cxnLst/>
            <a:rect l="l" t="t" r="r" b="b"/>
            <a:pathLst>
              <a:path w="2147032" h="387659">
                <a:moveTo>
                  <a:pt x="0" y="0"/>
                </a:moveTo>
                <a:lnTo>
                  <a:pt x="2147032" y="0"/>
                </a:lnTo>
                <a:lnTo>
                  <a:pt x="2147032" y="387659"/>
                </a:lnTo>
                <a:lnTo>
                  <a:pt x="0" y="38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sz="8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B4AC08-5437-A3B6-F0A3-D031C207061C}"/>
              </a:ext>
            </a:extLst>
          </p:cNvPr>
          <p:cNvSpPr txBox="1"/>
          <p:nvPr/>
        </p:nvSpPr>
        <p:spPr>
          <a:xfrm>
            <a:off x="685801" y="5591098"/>
            <a:ext cx="3342775" cy="48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59"/>
              </a:lnSpc>
            </a:pP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</a:rPr>
              <a:t>Research software and computing / </a:t>
            </a:r>
            <a:r>
              <a:rPr lang="en-US" sz="1400" dirty="0">
                <a:solidFill>
                  <a:schemeClr val="accent4"/>
                </a:solidFill>
                <a:ea typeface="+mn-lt"/>
                <a:cs typeface="+mn-lt"/>
                <a:hlinkClick r:id="rId7"/>
              </a:rPr>
              <a:t>Research AI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A01D5D-DCAE-C33A-7679-10DC49F75419}"/>
              </a:ext>
            </a:extLst>
          </p:cNvPr>
          <p:cNvSpPr txBox="1">
            <a:spLocks/>
          </p:cNvSpPr>
          <p:nvPr/>
        </p:nvSpPr>
        <p:spPr>
          <a:xfrm>
            <a:off x="685801" y="18121"/>
            <a:ext cx="3469997" cy="351306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algn="l" defTabSz="60963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ea typeface="Verdana"/>
              </a:rPr>
              <a:t>Access AI training, tools, services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04658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26858A-79D6-DB90-CB7B-72E181E1A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832A9A-10A2-C68D-8A39-3279758801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9632" y="2638742"/>
            <a:ext cx="10574677" cy="1736781"/>
          </a:xfrm>
        </p:spPr>
        <p:txBody>
          <a:bodyPr>
            <a:normAutofit/>
          </a:bodyPr>
          <a:lstStyle/>
          <a:p>
            <a:r>
              <a:rPr lang="en-NZ" sz="4800">
                <a:latin typeface="Verdana"/>
                <a:ea typeface="Verdana"/>
                <a:cs typeface="Calibri"/>
              </a:rPr>
              <a:t>Thank you for attending</a:t>
            </a:r>
            <a:endParaRPr lang="en-US" sz="48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D26B1-04F1-A44B-10FB-EF9F5382DF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7734" y="5448594"/>
            <a:ext cx="2383038" cy="556085"/>
          </a:xfrm>
        </p:spPr>
        <p:txBody>
          <a:bodyPr>
            <a:normAutofit/>
          </a:bodyPr>
          <a:lstStyle/>
          <a:p>
            <a:r>
              <a:rPr lang="en-AU" sz="1600" b="1" dirty="0"/>
              <a:t>3 March 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E59C9-4A94-849A-DDA6-E0B4015F2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8432" y="5448277"/>
            <a:ext cx="4797416" cy="556086"/>
          </a:xfrm>
        </p:spPr>
        <p:txBody>
          <a:bodyPr>
            <a:normAutofit/>
          </a:bodyPr>
          <a:lstStyle/>
          <a:p>
            <a:r>
              <a:rPr lang="en-NZ" sz="1600" b="1"/>
              <a:t>Centre for eResearch</a:t>
            </a:r>
            <a:endParaRPr lang="en-NZ" sz="1600" b="1">
              <a:ea typeface="Verdana"/>
            </a:endParaRPr>
          </a:p>
        </p:txBody>
      </p:sp>
      <p:pic>
        <p:nvPicPr>
          <p:cNvPr id="3" name="Google Shape;270;p61" title="Copyright symbol CC-BY">
            <a:extLst>
              <a:ext uri="{FF2B5EF4-FFF2-40B4-BE49-F238E27FC236}">
                <a16:creationId xmlns:a16="http://schemas.microsoft.com/office/drawing/2014/main" id="{BCDFDDFD-C67C-94B2-C466-C6BE8D2BEAE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30106" y="5886214"/>
            <a:ext cx="876967" cy="3069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FB3779-A9A1-AFBF-E1D5-20B7CD902210}"/>
              </a:ext>
            </a:extLst>
          </p:cNvPr>
          <p:cNvSpPr txBox="1">
            <a:spLocks/>
          </p:cNvSpPr>
          <p:nvPr/>
        </p:nvSpPr>
        <p:spPr>
          <a:xfrm>
            <a:off x="1049632" y="4413504"/>
            <a:ext cx="5046368" cy="997109"/>
          </a:xfrm>
          <a:prstGeom prst="rect">
            <a:avLst/>
          </a:prstGeom>
        </p:spPr>
        <p:txBody>
          <a:bodyPr vert="horz" lIns="0" tIns="0" rIns="0" bIns="0" rtlCol="0" anchor="b">
            <a:normAutofit lnSpcReduction="10000"/>
          </a:bodyPr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NZ" sz="2400" b="1"/>
              <a:t>Dr Kyle Hemming</a:t>
            </a:r>
            <a:br>
              <a:rPr lang="en-NZ" sz="2400" b="1"/>
            </a:br>
            <a:r>
              <a:rPr lang="en-NZ" sz="2400" b="1"/>
              <a:t>Dr Toby Johnson</a:t>
            </a:r>
          </a:p>
        </p:txBody>
      </p:sp>
    </p:spTree>
    <p:extLst>
      <p:ext uri="{BB962C8B-B14F-4D97-AF65-F5344CB8AC3E}">
        <p14:creationId xmlns:p14="http://schemas.microsoft.com/office/powerpoint/2010/main" val="3742160766"/>
      </p:ext>
    </p:extLst>
  </p:cSld>
  <p:clrMapOvr>
    <a:masterClrMapping/>
  </p:clrMapOvr>
</p:sld>
</file>

<file path=ppt/theme/theme1.xml><?xml version="1.0" encoding="utf-8"?>
<a:theme xmlns:a="http://schemas.openxmlformats.org/drawingml/2006/main" name="cer-comms">
  <a:themeElements>
    <a:clrScheme name="UoA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467F"/>
      </a:accent1>
      <a:accent2>
        <a:srgbClr val="009AC7"/>
      </a:accent2>
      <a:accent3>
        <a:srgbClr val="8D9091"/>
      </a:accent3>
      <a:accent4>
        <a:srgbClr val="4A4A4C"/>
      </a:accent4>
      <a:accent5>
        <a:srgbClr val="BEC3C4"/>
      </a:accent5>
      <a:accent6>
        <a:srgbClr val="F2F2F2"/>
      </a:accent6>
      <a:hlink>
        <a:srgbClr val="0097A7"/>
      </a:hlink>
      <a:folHlink>
        <a:srgbClr val="00467F"/>
      </a:folHlink>
    </a:clrScheme>
    <a:fontScheme name="Engageme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r-comms" id="{7F41E230-3764-4F7B-A0A7-506B89D22B89}" vid="{1EC347E0-8157-49E1-BF1C-6E7C60BABD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AB6B28-FFB5-9D42-A425-7C89ED06D580}">
  <we:reference id="wa200001745" version="1.0.1.5" store="en-US" storeType="OMEX"/>
  <we:alternateReferences>
    <we:reference id="wa200001745" version="1.0.1.5" store="wa200001745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3AC3CF64161429D7E4638AB47060D" ma:contentTypeVersion="20" ma:contentTypeDescription="Create a new document." ma:contentTypeScope="" ma:versionID="f186796ccb901b9f3dfa7f430b7a480b">
  <xsd:schema xmlns:xsd="http://www.w3.org/2001/XMLSchema" xmlns:xs="http://www.w3.org/2001/XMLSchema" xmlns:p="http://schemas.microsoft.com/office/2006/metadata/properties" xmlns:ns2="9ae8d21e-9f0b-4f8c-af18-737431b916ac" xmlns:ns3="2b020a29-aecd-476b-8002-043cdcfcec60" xmlns:ns4="d800a5cf-5799-495b-9b49-f15f7ad25ed9" targetNamespace="http://schemas.microsoft.com/office/2006/metadata/properties" ma:root="true" ma:fieldsID="f9a7003638140f00dc3babc4635a056a" ns2:_="" ns3:_="" ns4:_="">
    <xsd:import namespace="9ae8d21e-9f0b-4f8c-af18-737431b916ac"/>
    <xsd:import namespace="2b020a29-aecd-476b-8002-043cdcfcec60"/>
    <xsd:import namespace="d800a5cf-5799-495b-9b49-f15f7ad25e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Yea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e8d21e-9f0b-4f8c-af18-737431b916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5e9cd7a-283a-407b-9b45-84d2c2056e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Year" ma:index="27" nillable="true" ma:displayName="Year" ma:format="Dropdown" ma:internalName="Year">
      <xsd:simpleType>
        <xsd:restriction base="dms:Choice">
          <xsd:enumeration value="2020-earlier"/>
          <xsd:enumeration value="2021"/>
          <xsd:enumeration value="2022"/>
          <xsd:enumeration value="2023"/>
          <xsd:enumeration value="2024"/>
          <xsd:enumeration value="2025"/>
          <xsd:enumeration value="2026"/>
          <xsd:enumeration value="Othe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020a29-aecd-476b-8002-043cdcfcec6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00a5cf-5799-495b-9b49-f15f7ad25ed9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4ff0129-bcfc-4403-aedf-b1a835cee450}" ma:internalName="TaxCatchAll" ma:showField="CatchAllData" ma:web="2b020a29-aecd-476b-8002-043cdcfcec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e8d21e-9f0b-4f8c-af18-737431b916ac">
      <Terms xmlns="http://schemas.microsoft.com/office/infopath/2007/PartnerControls"/>
    </lcf76f155ced4ddcb4097134ff3c332f>
    <TaxCatchAll xmlns="d800a5cf-5799-495b-9b49-f15f7ad25ed9" xsi:nil="true"/>
    <SharedWithUsers xmlns="2b020a29-aecd-476b-8002-043cdcfcec60">
      <UserInfo>
        <DisplayName>Laura Armstrong</DisplayName>
        <AccountId>23</AccountId>
        <AccountType/>
      </UserInfo>
      <UserInfo>
        <DisplayName>Janine Paynter</DisplayName>
        <AccountId>234</AccountId>
        <AccountType/>
      </UserInfo>
    </SharedWithUsers>
    <Year xmlns="9ae8d21e-9f0b-4f8c-af18-737431b916a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D28B8E-2EAB-4D5D-8F57-E76B8EFADA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e8d21e-9f0b-4f8c-af18-737431b916ac"/>
    <ds:schemaRef ds:uri="2b020a29-aecd-476b-8002-043cdcfcec60"/>
    <ds:schemaRef ds:uri="d800a5cf-5799-495b-9b49-f15f7ad25e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70BCB-8B02-4E38-B779-211F7A5B9859}">
  <ds:schemaRefs>
    <ds:schemaRef ds:uri="9ae8d21e-9f0b-4f8c-af18-737431b916ac"/>
    <ds:schemaRef ds:uri="http://purl.org/dc/elements/1.1/"/>
    <ds:schemaRef ds:uri="http://schemas.microsoft.com/office/infopath/2007/PartnerControls"/>
    <ds:schemaRef ds:uri="http://www.w3.org/XML/1998/namespace"/>
    <ds:schemaRef ds:uri="d800a5cf-5799-495b-9b49-f15f7ad25ed9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2b020a29-aecd-476b-8002-043cdcfcec60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30A37CD-A11B-4942-8C1D-E25F9AB3334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cer-comms</Template>
  <TotalTime>190</TotalTime>
  <Words>433</Words>
  <Application>Microsoft Macintosh PowerPoint</Application>
  <PresentationFormat>Widescreen</PresentationFormat>
  <Paragraphs>111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Verdana Pro Bold</vt:lpstr>
      <vt:lpstr>Verdana</vt:lpstr>
      <vt:lpstr>Calibri</vt:lpstr>
      <vt:lpstr>Inter</vt:lpstr>
      <vt:lpstr>Verdana Pro</vt:lpstr>
      <vt:lpstr>Segoe UI</vt:lpstr>
      <vt:lpstr>cer-comms</vt:lpstr>
      <vt:lpstr>PowerPoint Presentation</vt:lpstr>
      <vt:lpstr>Today’s plan</vt:lpstr>
      <vt:lpstr>Generative artificial intelligence (GenAI)</vt:lpstr>
      <vt:lpstr>Data prep is a marathon</vt:lpstr>
      <vt:lpstr>Set up checklist (5 min)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cer-intro-slides_verdana</dc:title>
  <dc:creator>Sarah Hopkins</dc:creator>
  <cp:lastModifiedBy>Kyle Hemming</cp:lastModifiedBy>
  <cp:revision>14</cp:revision>
  <cp:lastPrinted>2023-11-22T00:03:18Z</cp:lastPrinted>
  <dcterms:created xsi:type="dcterms:W3CDTF">2006-08-16T00:00:00Z</dcterms:created>
  <dcterms:modified xsi:type="dcterms:W3CDTF">2026-06-17T04:02:02Z</dcterms:modified>
  <dc:identifier>DAFvg2VUusY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0x01010045B3AC3CF64161429D7E4638AB47060D</vt:lpwstr>
  </property>
  <property fmtid="{D5CDD505-2E9C-101B-9397-08002B2CF9AE}" pid="3" name="MediaServiceImageTags">
    <vt:lpwstr/>
  </property>
</Properties>
</file>